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
  </p:handoutMasterIdLst>
  <p:sldIdLst>
    <p:sldId id="256" r:id="rId2"/>
    <p:sldId id="259" r:id="rId3"/>
    <p:sldId id="260" r:id="rId12"/>
    <p:sldId id="261" r:id="rId13"/>
    <p:sldId id="262" r:id="rId14"/>
    <p:sldId id="263" r:id="rId15"/>
    <p:sldId id="264" r:id="rId16"/>
    <p:sldId id="265" r:id="rId17"/>
    <p:sldId id="266" r:id="rId18"/>
    <p:sldId id="267" r:id="rId19"/>
    <p:sldId id="268" r:id="rId20"/>
    <p:sldId id="269" r:id="rId21"/>
    <p:sldId id="270" r:id="rId22"/>
    <p:sldId id="258" r:id="rId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779C6"/>
    <a:srgbClr val="EC3462"/>
    <a:srgbClr val="B2B2B2"/>
    <a:srgbClr val="202020"/>
    <a:srgbClr val="323232"/>
    <a:srgbClr val="CC3300"/>
    <a:srgbClr val="CC00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6"/>
  </p:normalViewPr>
  <p:slideViewPr>
    <p:cSldViewPr snapToGrid="0" showGuides="1">
      <p:cViewPr varScale="1">
        <p:scale>
          <a:sx n="82" d="100"/>
          <a:sy n="82" d="100"/>
        </p:scale>
        <p:origin x="437" y="37"/>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2025/9/18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Zishi, 自食其力, means to live by your own labour. It is software that lets a machine pay for itself. Our first machine is an agricultural spraying drone on hire purchase. The AI is a real financial participant: it plans jobs, signs payment intents and repays a lender, but every money rule lives in code and on chain. (30 seconds)</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the pilot, how it works, the live demo, safety, on chain, proof and next. (5 seconds, or skip)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China has more than 200,000 agricultural drone pilots. A spraying drone costs about 55,000 yuan and earns 3 to 15 yuan per mu. The work is there and it pays. But a pilot with nothing to pledge cannot borrow, because the lender cannot see the work. (40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Zishi turns the drone into the borrower. It earns per mu, confirmed by the farmer who pays. Every fee repays the lender inside a fixed band, fills a bond and leaves the rest to the pilot. At zero the title moves on chain to the pilot. (40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Fleet page. One press of Start plays five moments: a job declined because the margin is too thin, an instalment paid, a faked flight log held by the oracle, the vendor bond slashed by proof, and the title moving to the pilot. Every step is a signed event you can inspect. (50 seconds, or show the live page)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job is declined, the pilot can ask the agent why. It answers from the engine's own numbers and offers the rate that clears, 3.7 yuan per mu. If the pilot asks it to bend a rule, it says no: that needs the operator key and the lender. The model only writes the words; every number is checked against the facts. This is also how we meet PIPL Article 24 on automated decisions. (50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decisions are made in code. The model can read and draft; the machine key pays only inside caps and allowlists; the top tier is a physical button. 21 policy rule lines check every signed intent. 52 of 52 attacks are blocked and 7 of 7 honest messages pass. Honestly: the classifier alone stops only 13; the rules do the real work. Judges can type their own attack on the Evidence page. (55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bonds. The pilot bond pays for the pilot's cheating. The vendor bond, 5,000 yuan posted by us, pays for the agent's mistakes, so the pilot never pays for the AI. A slash needs proof: a signed intent in the log that breaks a rule the contract checks itself. No judge. (40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does move on chain. In one engine fleet run on FISCO BCOS, 26 of 26 contract calls succeeded: the lender received 650 yuan through Lease, the vendor bond went from 5,000 to 4,800 by proof, and the title went to the pilot. On Base Sepolia one full job ran on the deployed contracts, 9 of 9 calls with value. And you do not have to trust us: pnpm verify:all re-fetches all 329 receipts we claim. (55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on WeBank's own stack. FISCO BCOS runs the same four contracts as the lender's ledger, and every intent hash read back matches. FATE lets three lenders learn pilot credit together without sharing rows: the lender with new pilots goes from AUC 0.729 to 0.782, the same as pooling all data. The model's fingerprint is on FISCO, so anyone can check which model set a rate.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are random per server and never reach the model. The front running hole in the first intent log is fixed in IntentLogV2 on FISCO; on the Base Sepolia v1 it is still open and we say so. 84 Foundry tests, and the scans show no open finding of medium or higher. On compliance: PIPL Article 24, a licensed lessor under NFRA rules, payments through PBoC licensed rails, and CAAC licensed pilots.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learned parts are measured on held out sets with intervals. The oracle holds 72 of 72 tampered flights with a 3 percent false alarm rate. The classifier is right 93.1 percent of the time and never flags an honest message. The two bonds cut the lender's bad case loss from 25,593 to 19,739 yuan. None of these models can move money.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clear about what is real: the contracts are deployed and verified, and full jobs moved value on both chains. On FISCO the engine itself settles every payment on the contracts and recovers when a call fails; on Base we anchor payments to spare a small test wallet, FISCO is our own node, and spraying telemetry is synthetic. Next is one licensed lessor with ten drones and real flight logs. The drone is the first machine; the same rail fits any machine whose paid work can be verified. Try it at the live demo. Thank you.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welcome; the live demo is open at zishi-fintechathon.vercel.app.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1">
          <a:gsLst>
            <a:gs pos="0">
              <a:schemeClr val="bg1"/>
            </a:gs>
            <a:gs pos="100000">
              <a:schemeClr val="bg1">
                <a:lumMod val="85000"/>
              </a:schemeClr>
            </a:gs>
          </a:gsLst>
          <a:lin ang="5400000" scaled="0"/>
        </a:gra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39"/>
            <a:ext cx="12192635" cy="685835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179"/>
            <a:ext cx="12191365" cy="685764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2025/9/18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2025/9/18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9CAFA48-CE2A-E184-9106-9E6A1F5CFC61}"/>
              </a:ext>
            </a:extLst>
          </p:cNvPr>
          <p:cNvSpPr txBox="1"/>
          <p:nvPr/>
        </p:nvSpPr>
        <p:spPr>
          <a:xfrm>
            <a:off x="672841" y="4114800"/>
            <a:ext cx="1415772" cy="584775"/>
          </a:xfrm>
          <a:prstGeom prst="rect">
            <a:avLst/>
          </a:prstGeom>
          <a:noFill/>
        </p:spPr>
        <p:txBody>
          <a:bodyPr wrap="none" rtlCol="0">
            <a:spAutoFit/>
          </a:bodyPr>
          <a:lstStyle/>
          <a:p>
            <a:pPr algn="l"/>
            <a:r>
              <a:rPr lang="zh-CN" altLang="en-US" sz="3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Zishi 自食其力</a:t>
            </a:r>
          </a:p>
        </p:txBody>
      </p:sp>
      <p:sp>
        <p:nvSpPr>
          <p:cNvPr id="3" name="文本框 2">
            <a:extLst>
              <a:ext uri="{FF2B5EF4-FFF2-40B4-BE49-F238E27FC236}">
                <a16:creationId xmlns:a16="http://schemas.microsoft.com/office/drawing/2014/main" id="{20E323A6-5F07-AC8E-2B85-235ECA42B0BE}"/>
              </a:ext>
            </a:extLst>
          </p:cNvPr>
          <p:cNvSpPr txBox="1"/>
          <p:nvPr/>
        </p:nvSpPr>
        <p:spPr>
          <a:xfrm>
            <a:off x="734834" y="5193792"/>
            <a:ext cx="877163" cy="369332"/>
          </a:xfrm>
          <a:prstGeom prst="rect">
            <a:avLst/>
          </a:prstGeom>
          <a:noFill/>
        </p:spPr>
        <p:txBody>
          <a:bodyPr wrap="none" rtlCol="0">
            <a:spAutoFit/>
          </a:bodyPr>
          <a:lstStyle/>
          <a:p>
            <a:pPr algn="l"/>
            <a:r>
              <a:rPr lang="zh-CN" altLang="en-US" dirty="0" sz="180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Team Zishi</a:t>
            </a:r>
          </a:p>
        </p:txBody>
      </p:sp>
      <p:sp>
        <p:nvSpPr>
          <p:cNvPr id="4" name="TextBox 3"/>
          <p:cNvSpPr txBox="1"/>
          <p:nvPr/>
        </p:nvSpPr>
        <p:spPr>
          <a:xfrm>
            <a:off x="676656" y="4681728"/>
            <a:ext cx="6035040" cy="548640"/>
          </a:xfrm>
          <a:prstGeom prst="rect">
            <a:avLst/>
          </a:prstGeom>
          <a:noFill/>
        </p:spPr>
        <p:txBody>
          <a:bodyPr wrap="square" anchor="t" lIns="0" rIns="0" tIns="0" bIns="0">
            <a:spAutoFit/>
          </a:bodyPr>
          <a:lstStyle/>
          <a:p>
            <a:pPr algn="l">
              <a:lnSpc>
                <a:spcPct val="110000"/>
              </a:lnSpc>
              <a:spcAft>
                <a:spcPts val="200"/>
              </a:spcAft>
            </a:pPr>
            <a:r>
              <a:rPr sz="1600" b="0">
                <a:solidFill>
                  <a:srgbClr val="FFFFFF"/>
                </a:solidFill>
                <a:latin typeface="Arial"/>
              </a:rPr>
              <a:t>A wallet for a drone on hire purchase. The AI participates, the money rules live in code.</a:t>
            </a:r>
          </a:p>
        </p:txBody>
      </p:sp>
      <p:sp>
        <p:nvSpPr>
          <p:cNvPr id="5" name="TextBox 4"/>
          <p:cNvSpPr txBox="1"/>
          <p:nvPr/>
        </p:nvSpPr>
        <p:spPr>
          <a:xfrm>
            <a:off x="731520" y="5577840"/>
            <a:ext cx="7315200" cy="457200"/>
          </a:xfrm>
          <a:prstGeom prst="rect">
            <a:avLst/>
          </a:prstGeom>
          <a:noFill/>
        </p:spPr>
        <p:txBody>
          <a:bodyPr wrap="square" anchor="t" lIns="0" rIns="0" tIns="0" bIns="0">
            <a:spAutoFit/>
          </a:bodyPr>
          <a:lstStyle/>
          <a:p>
            <a:pPr algn="l">
              <a:lnSpc>
                <a:spcPct val="110000"/>
              </a:lnSpc>
              <a:spcAft>
                <a:spcPts val="200"/>
              </a:spcAft>
            </a:pPr>
            <a:r>
              <a:rPr sz="1400" b="0">
                <a:solidFill>
                  <a:srgbClr val="DFE2EE"/>
                </a:solidFill>
                <a:latin typeface="Arial"/>
              </a:rPr>
              <a:t>International AI Track, Topic F: Agent Wallet  |  20 October 2026</a:t>
            </a:r>
          </a:p>
          <a:p>
            <a:pPr algn="l">
              <a:lnSpc>
                <a:spcPct val="110000"/>
              </a:lnSpc>
              <a:spcAft>
                <a:spcPts val="200"/>
              </a:spcAft>
            </a:pPr>
            <a:r>
              <a:rPr sz="1400" b="0">
                <a:solidFill>
                  <a:srgbClr val="DFE2EE"/>
                </a:solidFill>
                <a:latin typeface="Arial"/>
              </a:rPr>
              <a:t>Built on WeBank's FISCO BCOS and FATE.</a:t>
            </a:r>
          </a:p>
        </p:txBody>
      </p:sp>
      <p:sp>
        <p:nvSpPr>
          <p:cNvPr id="6" name="TextBox 5"/>
          <p:cNvSpPr txBox="1"/>
          <p:nvPr/>
        </p:nvSpPr>
        <p:spPr>
          <a:xfrm>
            <a:off x="731520" y="6080760"/>
            <a:ext cx="7315200" cy="274320"/>
          </a:xfrm>
          <a:prstGeom prst="rect">
            <a:avLst/>
          </a:prstGeom>
          <a:noFill/>
        </p:spPr>
        <p:txBody>
          <a:bodyPr wrap="square" anchor="t" lIns="0" rIns="0" tIns="0" bIns="0">
            <a:spAutoFit/>
          </a:bodyPr>
          <a:lstStyle/>
          <a:p>
            <a:pPr algn="l">
              <a:lnSpc>
                <a:spcPct val="110000"/>
              </a:lnSpc>
              <a:spcAft>
                <a:spcPts val="600"/>
              </a:spcAft>
            </a:pPr>
            <a:r>
              <a:rPr sz="1500" b="1">
                <a:solidFill>
                  <a:srgbClr val="FF6B8B"/>
                </a:solidFill>
                <a:latin typeface="Arial"/>
              </a:rPr>
              <a:t>Live demo  zishi-fintechathon.vercel.app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userDrawn="1"/>
        </p:nvSpPr>
        <p:spPr>
          <a:xfrm>
            <a:off x="1299210" y="2945130"/>
            <a:ext cx="1823720" cy="922020"/>
          </a:xfrm>
          <a:prstGeom prst="rect">
            <a:avLst/>
          </a:prstGeom>
          <a:noFill/>
        </p:spPr>
        <p:txBody>
          <a:bodyPr wrap="square" rtlCol="0">
            <a:spAutoFit/>
          </a:bodyPr>
          <a:lstStyle/>
          <a:p>
            <a:pPr algn="dist"/>
            <a:r>
              <a:rPr lang="zh-CN" altLang="en-US" sz="5400" b="1">
                <a:solidFill>
                  <a:schemeClr val="bg1"/>
                </a:solidFill>
                <a:latin typeface="HarmonyOS Sans SC Bold" panose="00000500000000000000" charset="-122"/>
                <a:ea typeface="HarmonyOS Sans SC Bold" panose="00000500000000000000" charset="-122"/>
              </a:rPr>
              <a:t>目录</a:t>
            </a:r>
          </a:p>
        </p:txBody>
      </p:sp>
      <p:sp>
        <p:nvSpPr>
          <p:cNvPr id="5" name="文本框 4"/>
          <p:cNvSpPr txBox="1"/>
          <p:nvPr/>
        </p:nvSpPr>
        <p:spPr>
          <a:xfrm>
            <a:off x="1403985" y="3833495"/>
            <a:ext cx="1633855" cy="368300"/>
          </a:xfrm>
          <a:prstGeom prst="rect">
            <a:avLst/>
          </a:prstGeom>
          <a:noFill/>
        </p:spPr>
        <p:txBody>
          <a:bodyPr wrap="square" rtlCol="0">
            <a:spAutoFit/>
          </a:bodyPr>
          <a:lstStyle/>
          <a:p>
            <a:pPr algn="dist"/>
            <a:r>
              <a:rPr lang="en-US" altLang="zh-CN" dirty="0">
                <a:solidFill>
                  <a:schemeClr val="bg1"/>
                </a:solidFill>
                <a:latin typeface="HarmonyOS Sans SC Medium" panose="00000500000000000000" charset="-122"/>
                <a:ea typeface="HarmonyOS Sans SC Medium" panose="00000500000000000000" charset="-122"/>
                <a:sym typeface="+mn-ea"/>
              </a:rPr>
              <a:t>CONTENTS</a:t>
            </a:r>
          </a:p>
        </p:txBody>
      </p:sp>
      <p:sp>
        <p:nvSpPr>
          <p:cNvPr id="6" name="文本框 5"/>
          <p:cNvSpPr txBox="1"/>
          <p:nvPr/>
        </p:nvSpPr>
        <p:spPr>
          <a:xfrm>
            <a:off x="4015105" y="2181860"/>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01</a:t>
            </a:r>
          </a:p>
        </p:txBody>
      </p:sp>
      <p:sp>
        <p:nvSpPr>
          <p:cNvPr id="7" name="文本框 6"/>
          <p:cNvSpPr txBox="1"/>
          <p:nvPr/>
        </p:nvSpPr>
        <p:spPr>
          <a:xfrm>
            <a:off x="4650740" y="2255012"/>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The pilot</a:t>
            </a:r>
          </a:p>
        </p:txBody>
      </p:sp>
      <p:sp>
        <p:nvSpPr>
          <p:cNvPr id="9" name="文本框 8"/>
          <p:cNvSpPr txBox="1"/>
          <p:nvPr/>
        </p:nvSpPr>
        <p:spPr>
          <a:xfrm>
            <a:off x="7286625" y="2189480"/>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02</a:t>
            </a:r>
          </a:p>
        </p:txBody>
      </p:sp>
      <p:sp>
        <p:nvSpPr>
          <p:cNvPr id="10" name="文本框 9"/>
          <p:cNvSpPr txBox="1"/>
          <p:nvPr/>
        </p:nvSpPr>
        <p:spPr>
          <a:xfrm>
            <a:off x="7922260" y="2262632"/>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How it works</a:t>
            </a:r>
          </a:p>
        </p:txBody>
      </p:sp>
      <p:sp>
        <p:nvSpPr>
          <p:cNvPr id="11" name="文本框 10"/>
          <p:cNvSpPr txBox="1"/>
          <p:nvPr/>
        </p:nvSpPr>
        <p:spPr>
          <a:xfrm>
            <a:off x="3997325" y="3259138"/>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03</a:t>
            </a:r>
          </a:p>
        </p:txBody>
      </p:sp>
      <p:sp>
        <p:nvSpPr>
          <p:cNvPr id="12" name="文本框 11"/>
          <p:cNvSpPr txBox="1"/>
          <p:nvPr/>
        </p:nvSpPr>
        <p:spPr>
          <a:xfrm>
            <a:off x="4655820" y="3332290"/>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Live demo</a:t>
            </a:r>
          </a:p>
        </p:txBody>
      </p:sp>
      <p:sp>
        <p:nvSpPr>
          <p:cNvPr id="13" name="文本框 12"/>
          <p:cNvSpPr txBox="1"/>
          <p:nvPr/>
        </p:nvSpPr>
        <p:spPr>
          <a:xfrm>
            <a:off x="7291705" y="3259138"/>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04</a:t>
            </a:r>
          </a:p>
        </p:txBody>
      </p:sp>
      <p:sp>
        <p:nvSpPr>
          <p:cNvPr id="14" name="文本框 13"/>
          <p:cNvSpPr txBox="1"/>
          <p:nvPr/>
        </p:nvSpPr>
        <p:spPr>
          <a:xfrm>
            <a:off x="7927340" y="3332290"/>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Safety</a:t>
            </a:r>
          </a:p>
        </p:txBody>
      </p:sp>
      <p:sp>
        <p:nvSpPr>
          <p:cNvPr id="15" name="文本框 14"/>
          <p:cNvSpPr txBox="1"/>
          <p:nvPr/>
        </p:nvSpPr>
        <p:spPr>
          <a:xfrm>
            <a:off x="3997325" y="4421188"/>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05</a:t>
            </a:r>
          </a:p>
        </p:txBody>
      </p:sp>
      <p:sp>
        <p:nvSpPr>
          <p:cNvPr id="16" name="文本框 15"/>
          <p:cNvSpPr txBox="1"/>
          <p:nvPr/>
        </p:nvSpPr>
        <p:spPr>
          <a:xfrm>
            <a:off x="4655820" y="4494340"/>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On chain</a:t>
            </a:r>
          </a:p>
        </p:txBody>
      </p:sp>
      <p:sp>
        <p:nvSpPr>
          <p:cNvPr id="17" name="文本框 16"/>
          <p:cNvSpPr txBox="1"/>
          <p:nvPr/>
        </p:nvSpPr>
        <p:spPr>
          <a:xfrm>
            <a:off x="7291705" y="4421188"/>
            <a:ext cx="671830" cy="583565"/>
          </a:xfrm>
          <a:prstGeom prst="rect">
            <a:avLst/>
          </a:prstGeom>
          <a:noFill/>
        </p:spPr>
        <p:txBody>
          <a:bodyPr wrap="none" rtlCol="0">
            <a:spAutoFit/>
          </a:bodyPr>
          <a:lstStyle/>
          <a:p>
            <a:pPr algn="l"/>
            <a:r>
              <a:rPr lang="en-US" altLang="zh-CN" sz="3200" b="1" dirty="0">
                <a:solidFill>
                  <a:srgbClr val="6779C6"/>
                </a:solidFill>
                <a:latin typeface="HarmonyOS Sans SC Bold" panose="00000500000000000000" charset="-122"/>
                <a:ea typeface="HarmonyOS Sans SC Bold" panose="00000500000000000000" charset="-122"/>
                <a:cs typeface="Poppins Medium" panose="00000500000000000000" charset="0"/>
                <a:sym typeface="+mn-ea"/>
              </a:rPr>
              <a:t>06</a:t>
            </a:r>
          </a:p>
        </p:txBody>
      </p:sp>
      <p:sp>
        <p:nvSpPr>
          <p:cNvPr id="18" name="文本框 17"/>
          <p:cNvSpPr txBox="1"/>
          <p:nvPr/>
        </p:nvSpPr>
        <p:spPr>
          <a:xfrm>
            <a:off x="7927340" y="4494340"/>
            <a:ext cx="2377440" cy="583565"/>
          </a:xfrm>
          <a:prstGeom prst="rect">
            <a:avLst/>
          </a:prstGeom>
          <a:noFill/>
        </p:spPr>
        <p:txBody>
          <a:bodyPr wrap="none" rtlCol="0">
            <a:spAutoFit/>
          </a:bodyPr>
          <a:lstStyle/>
          <a:p>
            <a:pPr algn="l"/>
            <a:r>
              <a:rPr lang="zh-CN" altLang="en-US" sz="2200" dirty="0">
                <a:solidFill>
                  <a:schemeClr val="bg1"/>
                </a:solidFill>
                <a:latin typeface="HarmonyOS Sans SC Medium" panose="00000500000000000000" charset="-122"/>
                <a:ea typeface="HarmonyOS Sans SC Medium" panose="00000500000000000000" charset="-122"/>
                <a:cs typeface="Poppins Medium" panose="00000500000000000000" charset="0"/>
                <a:sym typeface="+mn-ea"/>
              </a:rPr>
              <a:t>Proof and next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5394960"/>
            <a:ext cx="7315200" cy="365760"/>
          </a:xfrm>
          <a:prstGeom prst="rect">
            <a:avLst/>
          </a:prstGeom>
          <a:noFill/>
        </p:spPr>
        <p:txBody>
          <a:bodyPr wrap="square" anchor="t" lIns="0" rIns="0" tIns="0" bIns="0">
            <a:spAutoFit/>
          </a:bodyPr>
          <a:lstStyle/>
          <a:p>
            <a:pPr algn="l">
              <a:lnSpc>
                <a:spcPct val="110000"/>
              </a:lnSpc>
              <a:spcAft>
                <a:spcPts val="600"/>
              </a:spcAft>
            </a:pPr>
            <a:r>
              <a:rPr sz="1800" b="1">
                <a:solidFill>
                  <a:srgbClr val="FFFFFF"/>
                </a:solidFill>
                <a:latin typeface="Arial"/>
              </a:rPr>
              <a:t>Live demo  zishi-fintechathon.vercel.app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THE PILOT</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Skilled pilots, no collateral, drones in the showroom</a:t>
            </a:r>
          </a:p>
        </p:txBody>
      </p:sp>
      <p:sp>
        <p:nvSpPr>
          <p:cNvPr id="4" name="Rectangle 3"/>
          <p:cNvSpPr/>
          <p:nvPr/>
        </p:nvSpPr>
        <p:spPr>
          <a:xfrm>
            <a:off x="685800" y="1737360"/>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337560" cy="731520"/>
          </a:xfrm>
          <a:prstGeom prst="rect">
            <a:avLst/>
          </a:prstGeom>
          <a:noFill/>
        </p:spPr>
        <p:txBody>
          <a:bodyPr wrap="square" anchor="t" lIns="0" rIns="0" tIns="0" bIns="0">
            <a:spAutoFit/>
          </a:bodyPr>
          <a:lstStyle/>
          <a:p>
            <a:pPr algn="l">
              <a:lnSpc>
                <a:spcPct val="110000"/>
              </a:lnSpc>
              <a:spcAft>
                <a:spcPts val="600"/>
              </a:spcAft>
            </a:pPr>
            <a:r>
              <a:rPr sz="4000" b="1">
                <a:solidFill>
                  <a:srgbClr val="1A1A1A"/>
                </a:solidFill>
                <a:latin typeface="Arial"/>
              </a:rPr>
              <a:t>200,000+</a:t>
            </a:r>
          </a:p>
        </p:txBody>
      </p:sp>
      <p:sp>
        <p:nvSpPr>
          <p:cNvPr id="6" name="TextBox 5"/>
          <p:cNvSpPr txBox="1"/>
          <p:nvPr/>
        </p:nvSpPr>
        <p:spPr>
          <a:xfrm>
            <a:off x="914400" y="2423160"/>
            <a:ext cx="3337560" cy="822960"/>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agricultural drone pilots in China</a:t>
            </a:r>
          </a:p>
        </p:txBody>
      </p:sp>
      <p:sp>
        <p:nvSpPr>
          <p:cNvPr id="7" name="Rectangle 6"/>
          <p:cNvSpPr/>
          <p:nvPr/>
        </p:nvSpPr>
        <p:spPr>
          <a:xfrm>
            <a:off x="4343400" y="1737360"/>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337560" cy="731520"/>
          </a:xfrm>
          <a:prstGeom prst="rect">
            <a:avLst/>
          </a:prstGeom>
          <a:noFill/>
        </p:spPr>
        <p:txBody>
          <a:bodyPr wrap="square" anchor="t" lIns="0" rIns="0" tIns="0" bIns="0">
            <a:spAutoFit/>
          </a:bodyPr>
          <a:lstStyle/>
          <a:p>
            <a:pPr algn="l">
              <a:lnSpc>
                <a:spcPct val="110000"/>
              </a:lnSpc>
              <a:spcAft>
                <a:spcPts val="600"/>
              </a:spcAft>
            </a:pPr>
            <a:r>
              <a:rPr sz="4000" b="1">
                <a:solidFill>
                  <a:srgbClr val="1A1A1A"/>
                </a:solidFill>
                <a:latin typeface="Arial"/>
              </a:rPr>
              <a:t>55,000 yuan</a:t>
            </a:r>
          </a:p>
        </p:txBody>
      </p:sp>
      <p:sp>
        <p:nvSpPr>
          <p:cNvPr id="9" name="TextBox 8"/>
          <p:cNvSpPr txBox="1"/>
          <p:nvPr/>
        </p:nvSpPr>
        <p:spPr>
          <a:xfrm>
            <a:off x="4572000" y="2423160"/>
            <a:ext cx="3337560" cy="822960"/>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about what one spraying drone costs</a:t>
            </a:r>
          </a:p>
        </p:txBody>
      </p:sp>
      <p:sp>
        <p:nvSpPr>
          <p:cNvPr id="10" name="Rectangle 9"/>
          <p:cNvSpPr/>
          <p:nvPr/>
        </p:nvSpPr>
        <p:spPr>
          <a:xfrm>
            <a:off x="8001000" y="1737360"/>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337560" cy="731520"/>
          </a:xfrm>
          <a:prstGeom prst="rect">
            <a:avLst/>
          </a:prstGeom>
          <a:noFill/>
        </p:spPr>
        <p:txBody>
          <a:bodyPr wrap="square" anchor="t" lIns="0" rIns="0" tIns="0" bIns="0">
            <a:spAutoFit/>
          </a:bodyPr>
          <a:lstStyle/>
          <a:p>
            <a:pPr algn="l">
              <a:lnSpc>
                <a:spcPct val="110000"/>
              </a:lnSpc>
              <a:spcAft>
                <a:spcPts val="600"/>
              </a:spcAft>
            </a:pPr>
            <a:r>
              <a:rPr sz="4000" b="1">
                <a:solidFill>
                  <a:srgbClr val="1A1A1A"/>
                </a:solidFill>
                <a:latin typeface="Arial"/>
              </a:rPr>
              <a:t>3 to 15 yuan</a:t>
            </a:r>
          </a:p>
        </p:txBody>
      </p:sp>
      <p:sp>
        <p:nvSpPr>
          <p:cNvPr id="12" name="TextBox 11"/>
          <p:cNvSpPr txBox="1"/>
          <p:nvPr/>
        </p:nvSpPr>
        <p:spPr>
          <a:xfrm>
            <a:off x="8229600" y="2423160"/>
            <a:ext cx="3337560" cy="822960"/>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earned per mu sprayed</a:t>
            </a:r>
          </a:p>
        </p:txBody>
      </p:sp>
      <p:sp>
        <p:nvSpPr>
          <p:cNvPr id="13" name="TextBox 12"/>
          <p:cNvSpPr txBox="1"/>
          <p:nvPr/>
        </p:nvSpPr>
        <p:spPr>
          <a:xfrm>
            <a:off x="685800" y="3886200"/>
            <a:ext cx="10515600" cy="1280160"/>
          </a:xfrm>
          <a:prstGeom prst="rect">
            <a:avLst/>
          </a:prstGeom>
          <a:noFill/>
        </p:spPr>
        <p:txBody>
          <a:bodyPr wrap="square" anchor="t" lIns="0" rIns="0" tIns="0" bIns="0">
            <a:spAutoFit/>
          </a:bodyPr>
          <a:lstStyle/>
          <a:p>
            <a:pPr algn="l">
              <a:lnSpc>
                <a:spcPct val="110000"/>
              </a:lnSpc>
              <a:spcAft>
                <a:spcPts val="600"/>
              </a:spcAft>
            </a:pPr>
            <a:r>
              <a:rPr sz="2200" b="0">
                <a:solidFill>
                  <a:srgbClr val="1A1A1A"/>
                </a:solidFill>
                <a:latin typeface="Arial"/>
              </a:rPr>
              <a:t>A pilot with nothing to pledge cannot get a loan. The lender cannot see the work, so it cannot lend against it. The drone sits in a showroom. The field waits.</a:t>
            </a:r>
          </a:p>
        </p:txBody>
      </p:sp>
      <p:sp>
        <p:nvSpPr>
          <p:cNvPr id="14" name="TextBox 13"/>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5" name="TextBox 14"/>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3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WHAT ZISHI DOES</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The machine is the borrower</a:t>
            </a:r>
          </a:p>
        </p:txBody>
      </p:sp>
      <p:sp>
        <p:nvSpPr>
          <p:cNvPr id="4" name="Rectangle 3"/>
          <p:cNvSpPr/>
          <p:nvPr/>
        </p:nvSpPr>
        <p:spPr>
          <a:xfrm>
            <a:off x="685800" y="1554480"/>
            <a:ext cx="3429000" cy="31089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554480"/>
            <a:ext cx="34290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1  Earn</a:t>
            </a:r>
          </a:p>
        </p:txBody>
      </p:sp>
      <p:sp>
        <p:nvSpPr>
          <p:cNvPr id="7" name="TextBox 6"/>
          <p:cNvSpPr txBox="1"/>
          <p:nvPr/>
        </p:nvSpPr>
        <p:spPr>
          <a:xfrm>
            <a:off x="960120" y="2423160"/>
            <a:ext cx="2880360" cy="2103120"/>
          </a:xfrm>
          <a:prstGeom prst="rect">
            <a:avLst/>
          </a:prstGeom>
          <a:noFill/>
        </p:spPr>
        <p:txBody>
          <a:bodyPr wrap="square" anchor="t" lIns="0" rIns="0" tIns="0" bIns="0">
            <a:spAutoFit/>
          </a:bodyPr>
          <a:lstStyle/>
          <a:p>
            <a:pPr algn="l">
              <a:lnSpc>
                <a:spcPct val="110000"/>
              </a:lnSpc>
              <a:spcAft>
                <a:spcPts val="600"/>
              </a:spcAft>
            </a:pPr>
            <a:r>
              <a:rPr sz="1900" b="0">
                <a:solidFill>
                  <a:srgbClr val="5C5C5C"/>
                </a:solidFill>
                <a:latin typeface="Arial"/>
              </a:rPr>
              <a:t>The drone earns per mu sprayed. The farmer locks the fee first and confirms the work.</a:t>
            </a:r>
          </a:p>
        </p:txBody>
      </p:sp>
      <p:sp>
        <p:nvSpPr>
          <p:cNvPr id="8" name="Rectangle 7"/>
          <p:cNvSpPr/>
          <p:nvPr/>
        </p:nvSpPr>
        <p:spPr>
          <a:xfrm>
            <a:off x="4297680" y="1554480"/>
            <a:ext cx="3429000" cy="31089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554480"/>
            <a:ext cx="34290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28800"/>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2  Repay</a:t>
            </a:r>
          </a:p>
        </p:txBody>
      </p:sp>
      <p:sp>
        <p:nvSpPr>
          <p:cNvPr id="11" name="TextBox 10"/>
          <p:cNvSpPr txBox="1"/>
          <p:nvPr/>
        </p:nvSpPr>
        <p:spPr>
          <a:xfrm>
            <a:off x="4572000" y="2423160"/>
            <a:ext cx="2880360" cy="2103120"/>
          </a:xfrm>
          <a:prstGeom prst="rect">
            <a:avLst/>
          </a:prstGeom>
          <a:noFill/>
        </p:spPr>
        <p:txBody>
          <a:bodyPr wrap="square" anchor="t" lIns="0" rIns="0" tIns="0" bIns="0">
            <a:spAutoFit/>
          </a:bodyPr>
          <a:lstStyle/>
          <a:p>
            <a:pPr algn="l">
              <a:lnSpc>
                <a:spcPct val="110000"/>
              </a:lnSpc>
              <a:spcAft>
                <a:spcPts val="600"/>
              </a:spcAft>
            </a:pPr>
            <a:r>
              <a:rPr sz="1900" b="0">
                <a:solidFill>
                  <a:srgbClr val="5C5C5C"/>
                </a:solidFill>
                <a:latin typeface="Arial"/>
              </a:rPr>
              <a:t>Each fee splits by rule: an instalment inside a 20 to 45 percent band, a rail fee, a bond top up, the rest to the pilot.</a:t>
            </a:r>
          </a:p>
        </p:txBody>
      </p:sp>
      <p:sp>
        <p:nvSpPr>
          <p:cNvPr id="12" name="Rectangle 11"/>
          <p:cNvSpPr/>
          <p:nvPr/>
        </p:nvSpPr>
        <p:spPr>
          <a:xfrm>
            <a:off x="7909560" y="1554480"/>
            <a:ext cx="3429000" cy="31089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09560" y="1554480"/>
            <a:ext cx="3429000"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828800"/>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3  Own</a:t>
            </a:r>
          </a:p>
        </p:txBody>
      </p:sp>
      <p:sp>
        <p:nvSpPr>
          <p:cNvPr id="15" name="TextBox 14"/>
          <p:cNvSpPr txBox="1"/>
          <p:nvPr/>
        </p:nvSpPr>
        <p:spPr>
          <a:xfrm>
            <a:off x="8183880" y="2423160"/>
            <a:ext cx="2880360" cy="2103120"/>
          </a:xfrm>
          <a:prstGeom prst="rect">
            <a:avLst/>
          </a:prstGeom>
          <a:noFill/>
        </p:spPr>
        <p:txBody>
          <a:bodyPr wrap="square" anchor="t" lIns="0" rIns="0" tIns="0" bIns="0">
            <a:spAutoFit/>
          </a:bodyPr>
          <a:lstStyle/>
          <a:p>
            <a:pPr algn="l">
              <a:lnSpc>
                <a:spcPct val="110000"/>
              </a:lnSpc>
              <a:spcAft>
                <a:spcPts val="600"/>
              </a:spcAft>
            </a:pPr>
            <a:r>
              <a:rPr sz="1900" b="0">
                <a:solidFill>
                  <a:srgbClr val="5C5C5C"/>
                </a:solidFill>
                <a:latin typeface="Arial"/>
              </a:rPr>
              <a:t>At zero the title moves on chain. The drone belongs to the person who flew it.</a:t>
            </a:r>
          </a:p>
        </p:txBody>
      </p:sp>
      <p:sp>
        <p:nvSpPr>
          <p:cNvPr id="16" name="TextBox 15"/>
          <p:cNvSpPr txBox="1"/>
          <p:nvPr/>
        </p:nvSpPr>
        <p:spPr>
          <a:xfrm>
            <a:off x="685800" y="4983480"/>
            <a:ext cx="10789920" cy="457200"/>
          </a:xfrm>
          <a:prstGeom prst="rect">
            <a:avLst/>
          </a:prstGeom>
          <a:noFill/>
        </p:spPr>
        <p:txBody>
          <a:bodyPr wrap="square" anchor="t" lIns="0" rIns="0" tIns="0" bIns="0">
            <a:spAutoFit/>
          </a:bodyPr>
          <a:lstStyle/>
          <a:p>
            <a:pPr algn="l">
              <a:lnSpc>
                <a:spcPct val="110000"/>
              </a:lnSpc>
              <a:spcAft>
                <a:spcPts val="600"/>
              </a:spcAft>
            </a:pPr>
            <a:r>
              <a:rPr sz="1800" b="0">
                <a:solidFill>
                  <a:srgbClr val="5C5C5C"/>
                </a:solidFill>
                <a:latin typeface="Arial"/>
              </a:rPr>
              <a:t>The lease, the bond and the title belong to the drone's wallet. Its verified work is the collateral.</a:t>
            </a:r>
          </a:p>
        </p:txBody>
      </p:sp>
      <p:sp>
        <p:nvSpPr>
          <p:cNvPr id="17" name="TextBox 16"/>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8" name="TextBox 17"/>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4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LIVE DEMO</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One drone, five moments, about three minutes</a:t>
            </a:r>
          </a:p>
        </p:txBody>
      </p:sp>
      <p:sp>
        <p:nvSpPr>
          <p:cNvPr id="4" name="TextBox 3"/>
          <p:cNvSpPr txBox="1"/>
          <p:nvPr/>
        </p:nvSpPr>
        <p:spPr>
          <a:xfrm>
            <a:off x="685800" y="1645919"/>
            <a:ext cx="3931920" cy="2926080"/>
          </a:xfrm>
          <a:prstGeom prst="rect">
            <a:avLst/>
          </a:prstGeom>
          <a:noFill/>
        </p:spPr>
        <p:txBody>
          <a:bodyPr wrap="square" anchor="t" lIns="0" rIns="0" tIns="0" bIns="0">
            <a:spAutoFit/>
          </a:bodyPr>
          <a:lstStyle/>
          <a:p>
            <a:pPr algn="l">
              <a:lnSpc>
                <a:spcPct val="110000"/>
              </a:lnSpc>
              <a:spcAft>
                <a:spcPts val="1400"/>
              </a:spcAft>
            </a:pPr>
            <a:r>
              <a:rPr sz="1900" b="0">
                <a:solidFill>
                  <a:srgbClr val="1A1A1A"/>
                </a:solidFill>
                <a:latin typeface="Arial"/>
              </a:rPr>
              <a:t>1   Job declined on economics</a:t>
            </a:r>
          </a:p>
          <a:p>
            <a:pPr algn="l">
              <a:lnSpc>
                <a:spcPct val="110000"/>
              </a:lnSpc>
              <a:spcAft>
                <a:spcPts val="1400"/>
              </a:spcAft>
            </a:pPr>
            <a:r>
              <a:rPr sz="1900" b="0">
                <a:solidFill>
                  <a:srgbClr val="1A1A1A"/>
                </a:solidFill>
                <a:latin typeface="Arial"/>
              </a:rPr>
              <a:t>2   Instalment paid to the lender</a:t>
            </a:r>
          </a:p>
          <a:p>
            <a:pPr algn="l">
              <a:lnSpc>
                <a:spcPct val="110000"/>
              </a:lnSpc>
              <a:spcAft>
                <a:spcPts val="1400"/>
              </a:spcAft>
            </a:pPr>
            <a:r>
              <a:rPr sz="1900" b="0">
                <a:solidFill>
                  <a:srgbClr val="1A1A1A"/>
                </a:solidFill>
                <a:latin typeface="Arial"/>
              </a:rPr>
              <a:t>3   Faked flight log held</a:t>
            </a:r>
          </a:p>
          <a:p>
            <a:pPr algn="l">
              <a:lnSpc>
                <a:spcPct val="110000"/>
              </a:lnSpc>
              <a:spcAft>
                <a:spcPts val="1400"/>
              </a:spcAft>
            </a:pPr>
            <a:r>
              <a:rPr sz="1900" b="0">
                <a:solidFill>
                  <a:srgbClr val="1A1A1A"/>
                </a:solidFill>
                <a:latin typeface="Arial"/>
              </a:rPr>
              <a:t>4   Slash by proof</a:t>
            </a:r>
          </a:p>
          <a:p>
            <a:pPr algn="l">
              <a:lnSpc>
                <a:spcPct val="110000"/>
              </a:lnSpc>
              <a:spcAft>
                <a:spcPts val="1400"/>
              </a:spcAft>
            </a:pPr>
            <a:r>
              <a:rPr sz="1900" b="0">
                <a:solidFill>
                  <a:srgbClr val="1A1A1A"/>
                </a:solidFill>
                <a:latin typeface="Arial"/>
              </a:rPr>
              <a:t>5   Title transferred to the pilot</a:t>
            </a:r>
          </a:p>
        </p:txBody>
      </p:sp>
      <p:sp>
        <p:nvSpPr>
          <p:cNvPr id="5" name="TextBox 4"/>
          <p:cNvSpPr txBox="1"/>
          <p:nvPr/>
        </p:nvSpPr>
        <p:spPr>
          <a:xfrm>
            <a:off x="685800" y="4617720"/>
            <a:ext cx="3840480" cy="1097280"/>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Every step is a signed event on the screen. Press Start on the Fleet page.</a:t>
            </a:r>
          </a:p>
        </p:txBody>
      </p:sp>
      <p:pic>
        <p:nvPicPr>
          <p:cNvPr id="6" name="Picture 5" descr="demo.png"/>
          <p:cNvPicPr>
            <a:picLocks noChangeAspect="1"/>
          </p:cNvPicPr>
          <p:nvPr/>
        </p:nvPicPr>
        <p:blipFill>
          <a:blip r:embed="rId2"/>
          <a:stretch>
            <a:fillRect/>
          </a:stretch>
        </p:blipFill>
        <p:spPr>
          <a:xfrm>
            <a:off x="4983480" y="1645919"/>
            <a:ext cx="6537960" cy="4086225"/>
          </a:xfrm>
          <a:prstGeom prst="rect">
            <a:avLst/>
          </a:prstGeom>
        </p:spPr>
      </p:pic>
      <p:sp>
        <p:nvSpPr>
          <p:cNvPr id="7" name="TextBox 6"/>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8" name="TextBox 7"/>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5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ASK THE AGENT WHY</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The pilot can question a decision</a:t>
            </a:r>
          </a:p>
        </p:txBody>
      </p:sp>
      <p:sp>
        <p:nvSpPr>
          <p:cNvPr id="4" name="Rectangle 3"/>
          <p:cNvSpPr/>
          <p:nvPr/>
        </p:nvSpPr>
        <p:spPr>
          <a:xfrm>
            <a:off x="685800" y="1508760"/>
            <a:ext cx="6675120" cy="868680"/>
          </a:xfrm>
          <a:prstGeom prst="rect">
            <a:avLst/>
          </a:prstGeom>
          <a:solidFill>
            <a:srgbClr val="EEF0FA"/>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508760"/>
            <a:ext cx="54864" cy="868680"/>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6309360" cy="320040"/>
          </a:xfrm>
          <a:prstGeom prst="rect">
            <a:avLst/>
          </a:prstGeom>
          <a:noFill/>
        </p:spPr>
        <p:txBody>
          <a:bodyPr wrap="square" anchor="t" lIns="0" rIns="0" tIns="0" bIns="0">
            <a:spAutoFit/>
          </a:bodyPr>
          <a:lstStyle/>
          <a:p>
            <a:pPr algn="l">
              <a:lnSpc>
                <a:spcPct val="110000"/>
              </a:lnSpc>
              <a:spcAft>
                <a:spcPts val="600"/>
              </a:spcAft>
            </a:pPr>
            <a:r>
              <a:rPr sz="1200" b="1">
                <a:solidFill>
                  <a:srgbClr val="4A5BB0"/>
                </a:solidFill>
                <a:latin typeface="Arial"/>
              </a:rPr>
              <a:t>PILOT</a:t>
            </a:r>
          </a:p>
        </p:txBody>
      </p:sp>
      <p:sp>
        <p:nvSpPr>
          <p:cNvPr id="7" name="TextBox 6"/>
          <p:cNvSpPr txBox="1"/>
          <p:nvPr/>
        </p:nvSpPr>
        <p:spPr>
          <a:xfrm>
            <a:off x="914400" y="1892807"/>
            <a:ext cx="6309360" cy="411479"/>
          </a:xfrm>
          <a:prstGeom prst="rect">
            <a:avLst/>
          </a:prstGeom>
          <a:noFill/>
        </p:spPr>
        <p:txBody>
          <a:bodyPr wrap="square" anchor="t" lIns="0" rIns="0" tIns="0" bIns="0">
            <a:spAutoFit/>
          </a:bodyPr>
          <a:lstStyle/>
          <a:p>
            <a:pPr algn="l">
              <a:lnSpc>
                <a:spcPct val="110000"/>
              </a:lnSpc>
              <a:spcAft>
                <a:spcPts val="600"/>
              </a:spcAft>
            </a:pPr>
            <a:r>
              <a:rPr sz="1500" b="0">
                <a:solidFill>
                  <a:srgbClr val="1A1A1A"/>
                </a:solidFill>
                <a:latin typeface="Arial"/>
              </a:rPr>
              <a:t>Why was this job declined?</a:t>
            </a:r>
          </a:p>
        </p:txBody>
      </p:sp>
      <p:sp>
        <p:nvSpPr>
          <p:cNvPr id="8" name="Rectangle 7"/>
          <p:cNvSpPr/>
          <p:nvPr/>
        </p:nvSpPr>
        <p:spPr>
          <a:xfrm>
            <a:off x="1783080" y="2468880"/>
            <a:ext cx="6675120" cy="123444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3080" y="2468880"/>
            <a:ext cx="54864"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0" y="2560320"/>
            <a:ext cx="6309360" cy="320040"/>
          </a:xfrm>
          <a:prstGeom prst="rect">
            <a:avLst/>
          </a:prstGeom>
          <a:noFill/>
        </p:spPr>
        <p:txBody>
          <a:bodyPr wrap="square" anchor="t" lIns="0" rIns="0" tIns="0" bIns="0">
            <a:spAutoFit/>
          </a:bodyPr>
          <a:lstStyle/>
          <a:p>
            <a:pPr algn="l">
              <a:lnSpc>
                <a:spcPct val="110000"/>
              </a:lnSpc>
              <a:spcAft>
                <a:spcPts val="600"/>
              </a:spcAft>
            </a:pPr>
            <a:r>
              <a:rPr sz="1200" b="1">
                <a:solidFill>
                  <a:srgbClr val="C8102E"/>
                </a:solidFill>
                <a:latin typeface="Arial"/>
              </a:rPr>
              <a:t>AGENT</a:t>
            </a:r>
          </a:p>
        </p:txBody>
      </p:sp>
      <p:sp>
        <p:nvSpPr>
          <p:cNvPr id="11" name="TextBox 10"/>
          <p:cNvSpPr txBox="1"/>
          <p:nvPr/>
        </p:nvSpPr>
        <p:spPr>
          <a:xfrm>
            <a:off x="2011680" y="2852928"/>
            <a:ext cx="6309360" cy="777240"/>
          </a:xfrm>
          <a:prstGeom prst="rect">
            <a:avLst/>
          </a:prstGeom>
          <a:noFill/>
        </p:spPr>
        <p:txBody>
          <a:bodyPr wrap="square" anchor="t" lIns="0" rIns="0" tIns="0" bIns="0">
            <a:spAutoFit/>
          </a:bodyPr>
          <a:lstStyle/>
          <a:p>
            <a:pPr algn="l">
              <a:lnSpc>
                <a:spcPct val="110000"/>
              </a:lnSpc>
              <a:spcAft>
                <a:spcPts val="600"/>
              </a:spcAft>
            </a:pPr>
            <a:r>
              <a:rPr sz="1500" b="0">
                <a:solidFill>
                  <a:srgbClr val="1A1A1A"/>
                </a:solidFill>
                <a:latin typeface="Arial"/>
              </a:rPr>
              <a:t>The fee is 60 yuan (20 mu at 3 yuan per mu). After the instalment, charging and the rail fee, 22.8 yuan is left. The reserve rule needs 30. The break even is 3.7 yuan per mu.</a:t>
            </a:r>
          </a:p>
        </p:txBody>
      </p:sp>
      <p:sp>
        <p:nvSpPr>
          <p:cNvPr id="12" name="Rectangle 11"/>
          <p:cNvSpPr/>
          <p:nvPr/>
        </p:nvSpPr>
        <p:spPr>
          <a:xfrm>
            <a:off x="685800" y="3794760"/>
            <a:ext cx="6675120" cy="868680"/>
          </a:xfrm>
          <a:prstGeom prst="rect">
            <a:avLst/>
          </a:prstGeom>
          <a:solidFill>
            <a:srgbClr val="EEF0FA"/>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94760"/>
            <a:ext cx="54864" cy="868680"/>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86200"/>
            <a:ext cx="6309360" cy="320040"/>
          </a:xfrm>
          <a:prstGeom prst="rect">
            <a:avLst/>
          </a:prstGeom>
          <a:noFill/>
        </p:spPr>
        <p:txBody>
          <a:bodyPr wrap="square" anchor="t" lIns="0" rIns="0" tIns="0" bIns="0">
            <a:spAutoFit/>
          </a:bodyPr>
          <a:lstStyle/>
          <a:p>
            <a:pPr algn="l">
              <a:lnSpc>
                <a:spcPct val="110000"/>
              </a:lnSpc>
              <a:spcAft>
                <a:spcPts val="600"/>
              </a:spcAft>
            </a:pPr>
            <a:r>
              <a:rPr sz="1200" b="1">
                <a:solidFill>
                  <a:srgbClr val="4A5BB0"/>
                </a:solidFill>
                <a:latin typeface="Arial"/>
              </a:rPr>
              <a:t>PILOT</a:t>
            </a:r>
          </a:p>
        </p:txBody>
      </p:sp>
      <p:sp>
        <p:nvSpPr>
          <p:cNvPr id="15" name="TextBox 14"/>
          <p:cNvSpPr txBox="1"/>
          <p:nvPr/>
        </p:nvSpPr>
        <p:spPr>
          <a:xfrm>
            <a:off x="914400" y="4178808"/>
            <a:ext cx="6309360" cy="411479"/>
          </a:xfrm>
          <a:prstGeom prst="rect">
            <a:avLst/>
          </a:prstGeom>
          <a:noFill/>
        </p:spPr>
        <p:txBody>
          <a:bodyPr wrap="square" anchor="t" lIns="0" rIns="0" tIns="0" bIns="0">
            <a:spAutoFit/>
          </a:bodyPr>
          <a:lstStyle/>
          <a:p>
            <a:pPr algn="l">
              <a:lnSpc>
                <a:spcPct val="110000"/>
              </a:lnSpc>
              <a:spcAft>
                <a:spcPts val="600"/>
              </a:spcAft>
            </a:pPr>
            <a:r>
              <a:rPr sz="1500" b="0">
                <a:solidFill>
                  <a:srgbClr val="1A1A1A"/>
                </a:solidFill>
                <a:latin typeface="Arial"/>
              </a:rPr>
              <a:t>Lower the reserve for this job.</a:t>
            </a:r>
          </a:p>
        </p:txBody>
      </p:sp>
      <p:sp>
        <p:nvSpPr>
          <p:cNvPr id="16" name="Rectangle 15"/>
          <p:cNvSpPr/>
          <p:nvPr/>
        </p:nvSpPr>
        <p:spPr>
          <a:xfrm>
            <a:off x="1783080" y="4754880"/>
            <a:ext cx="6675120" cy="100584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83080" y="4754880"/>
            <a:ext cx="5486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0" y="4846320"/>
            <a:ext cx="6309360" cy="320040"/>
          </a:xfrm>
          <a:prstGeom prst="rect">
            <a:avLst/>
          </a:prstGeom>
          <a:noFill/>
        </p:spPr>
        <p:txBody>
          <a:bodyPr wrap="square" anchor="t" lIns="0" rIns="0" tIns="0" bIns="0">
            <a:spAutoFit/>
          </a:bodyPr>
          <a:lstStyle/>
          <a:p>
            <a:pPr algn="l">
              <a:lnSpc>
                <a:spcPct val="110000"/>
              </a:lnSpc>
              <a:spcAft>
                <a:spcPts val="600"/>
              </a:spcAft>
            </a:pPr>
            <a:r>
              <a:rPr sz="1200" b="1">
                <a:solidFill>
                  <a:srgbClr val="C8102E"/>
                </a:solidFill>
                <a:latin typeface="Arial"/>
              </a:rPr>
              <a:t>AGENT</a:t>
            </a:r>
          </a:p>
        </p:txBody>
      </p:sp>
      <p:sp>
        <p:nvSpPr>
          <p:cNvPr id="19" name="TextBox 18"/>
          <p:cNvSpPr txBox="1"/>
          <p:nvPr/>
        </p:nvSpPr>
        <p:spPr>
          <a:xfrm>
            <a:off x="2011680" y="5138928"/>
            <a:ext cx="6309360" cy="548640"/>
          </a:xfrm>
          <a:prstGeom prst="rect">
            <a:avLst/>
          </a:prstGeom>
          <a:noFill/>
        </p:spPr>
        <p:txBody>
          <a:bodyPr wrap="square" anchor="t" lIns="0" rIns="0" tIns="0" bIns="0">
            <a:spAutoFit/>
          </a:bodyPr>
          <a:lstStyle/>
          <a:p>
            <a:pPr algn="l">
              <a:lnSpc>
                <a:spcPct val="110000"/>
              </a:lnSpc>
              <a:spcAft>
                <a:spcPts val="600"/>
              </a:spcAft>
            </a:pPr>
            <a:r>
              <a:rPr sz="1500" b="0">
                <a:solidFill>
                  <a:srgbClr val="1A1A1A"/>
                </a:solidFill>
                <a:latin typeface="Arial"/>
              </a:rPr>
              <a:t>I cannot. The reserve rule is the lender's floor. Changing it needs the operator key (L3, the physical button) and the lender.</a:t>
            </a:r>
          </a:p>
        </p:txBody>
      </p:sp>
      <p:sp>
        <p:nvSpPr>
          <p:cNvPr id="20" name="TextBox 19"/>
          <p:cNvSpPr txBox="1"/>
          <p:nvPr/>
        </p:nvSpPr>
        <p:spPr>
          <a:xfrm>
            <a:off x="8915400" y="1554480"/>
            <a:ext cx="2606040" cy="4206240"/>
          </a:xfrm>
          <a:prstGeom prst="rect">
            <a:avLst/>
          </a:prstGeom>
          <a:noFill/>
        </p:spPr>
        <p:txBody>
          <a:bodyPr wrap="square" anchor="t" lIns="0" rIns="0" tIns="0" bIns="0">
            <a:spAutoFit/>
          </a:bodyPr>
          <a:lstStyle/>
          <a:p>
            <a:pPr algn="l">
              <a:lnSpc>
                <a:spcPct val="110000"/>
              </a:lnSpc>
              <a:spcAft>
                <a:spcPts val="400"/>
              </a:spcAft>
            </a:pPr>
            <a:r>
              <a:rPr sz="1600" b="0">
                <a:solidFill>
                  <a:srgbClr val="5C5C5C"/>
                </a:solidFill>
                <a:latin typeface="Arial"/>
              </a:rPr>
              <a:t>Every number and decision comes from code. The model only words it.</a:t>
            </a:r>
          </a:p>
          <a:p>
            <a:pPr algn="l">
              <a:lnSpc>
                <a:spcPct val="110000"/>
              </a:lnSpc>
              <a:spcAft>
                <a:spcPts val="400"/>
              </a:spcAft>
            </a:pPr>
            <a:r>
              <a:rPr sz="1600" b="0">
                <a:solidFill>
                  <a:srgbClr val="5C5C5C"/>
                </a:solidFill>
                <a:latin typeface="Arial"/>
              </a:rPr>
              <a:t/>
            </a:r>
          </a:p>
          <a:p>
            <a:pPr algn="l">
              <a:lnSpc>
                <a:spcPct val="110000"/>
              </a:lnSpc>
              <a:spcAft>
                <a:spcPts val="400"/>
              </a:spcAft>
            </a:pPr>
            <a:r>
              <a:rPr sz="1600" b="0">
                <a:solidFill>
                  <a:srgbClr val="5C5C5C"/>
                </a:solidFill>
                <a:latin typeface="Arial"/>
              </a:rPr>
              <a:t>Free models only. No key means labelled template text.</a:t>
            </a:r>
          </a:p>
          <a:p>
            <a:pPr algn="l">
              <a:lnSpc>
                <a:spcPct val="110000"/>
              </a:lnSpc>
              <a:spcAft>
                <a:spcPts val="400"/>
              </a:spcAft>
            </a:pPr>
            <a:r>
              <a:rPr sz="1600" b="0">
                <a:solidFill>
                  <a:srgbClr val="5C5C5C"/>
                </a:solidFill>
                <a:latin typeface="Arial"/>
              </a:rPr>
              <a:t/>
            </a:r>
          </a:p>
          <a:p>
            <a:pPr algn="l">
              <a:lnSpc>
                <a:spcPct val="110000"/>
              </a:lnSpc>
              <a:spcAft>
                <a:spcPts val="400"/>
              </a:spcAft>
            </a:pPr>
            <a:r>
              <a:rPr sz="1600" b="0">
                <a:solidFill>
                  <a:srgbClr val="5C5C5C"/>
                </a:solidFill>
                <a:latin typeface="Arial"/>
              </a:rPr>
              <a:t>English or 中文.</a:t>
            </a:r>
          </a:p>
          <a:p>
            <a:pPr algn="l">
              <a:lnSpc>
                <a:spcPct val="110000"/>
              </a:lnSpc>
              <a:spcAft>
                <a:spcPts val="400"/>
              </a:spcAft>
            </a:pPr>
            <a:r>
              <a:rPr sz="1600" b="0">
                <a:solidFill>
                  <a:srgbClr val="5C5C5C"/>
                </a:solidFill>
                <a:latin typeface="Arial"/>
              </a:rPr>
              <a:t/>
            </a:r>
          </a:p>
          <a:p>
            <a:pPr algn="l">
              <a:lnSpc>
                <a:spcPct val="110000"/>
              </a:lnSpc>
              <a:spcAft>
                <a:spcPts val="400"/>
              </a:spcAft>
            </a:pPr>
            <a:r>
              <a:rPr sz="1600" b="0">
                <a:solidFill>
                  <a:srgbClr val="5C5C5C"/>
                </a:solidFill>
                <a:latin typeface="Arial"/>
              </a:rPr>
              <a:t>The person affected can ask why: PIPL Article 24.</a:t>
            </a:r>
          </a:p>
        </p:txBody>
      </p:sp>
      <p:sp>
        <p:nvSpPr>
          <p:cNvPr id="21" name="TextBox 20"/>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22" name="TextBox 21"/>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6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MONEY IN CODE, NOT IN THE MODEL</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The model drafts. Code decides the payment.</a:t>
            </a:r>
          </a:p>
        </p:txBody>
      </p:sp>
      <p:sp>
        <p:nvSpPr>
          <p:cNvPr id="4" name="TextBox 3"/>
          <p:cNvSpPr txBox="1"/>
          <p:nvPr/>
        </p:nvSpPr>
        <p:spPr>
          <a:xfrm>
            <a:off x="685800" y="1600200"/>
            <a:ext cx="4846320" cy="2194560"/>
          </a:xfrm>
          <a:prstGeom prst="rect">
            <a:avLst/>
          </a:prstGeom>
          <a:noFill/>
        </p:spPr>
        <p:txBody>
          <a:bodyPr wrap="square" anchor="t" lIns="0" rIns="0" tIns="0" bIns="0">
            <a:spAutoFit/>
          </a:bodyPr>
          <a:lstStyle/>
          <a:p>
            <a:pPr algn="l">
              <a:lnSpc>
                <a:spcPct val="110000"/>
              </a:lnSpc>
              <a:spcAft>
                <a:spcPts val="800"/>
              </a:spcAft>
            </a:pPr>
            <a:r>
              <a:rPr sz="1800" b="0">
                <a:solidFill>
                  <a:srgbClr val="1A1A1A"/>
                </a:solidFill>
                <a:latin typeface="Arial"/>
              </a:rPr>
              <a:t>Four tiers on every signed intent</a:t>
            </a:r>
          </a:p>
          <a:p>
            <a:pPr algn="l">
              <a:lnSpc>
                <a:spcPct val="110000"/>
              </a:lnSpc>
              <a:spcAft>
                <a:spcPts val="800"/>
              </a:spcAft>
            </a:pPr>
            <a:r>
              <a:rPr sz="1800" b="0">
                <a:solidFill>
                  <a:srgbClr val="1A1A1A"/>
                </a:solidFill>
                <a:latin typeface="Arial"/>
              </a:rPr>
              <a:t>L0 read, L1 draft: the model</a:t>
            </a:r>
          </a:p>
          <a:p>
            <a:pPr algn="l">
              <a:lnSpc>
                <a:spcPct val="110000"/>
              </a:lnSpc>
              <a:spcAft>
                <a:spcPts val="800"/>
              </a:spcAft>
            </a:pPr>
            <a:r>
              <a:rPr sz="1800" b="0">
                <a:solidFill>
                  <a:srgbClr val="1A1A1A"/>
                </a:solidFill>
                <a:latin typeface="Arial"/>
              </a:rPr>
              <a:t>L2 pay inside caps and allowlists: the machine key</a:t>
            </a:r>
          </a:p>
          <a:p>
            <a:pPr algn="l">
              <a:lnSpc>
                <a:spcPct val="110000"/>
              </a:lnSpc>
              <a:spcAft>
                <a:spcPts val="800"/>
              </a:spcAft>
            </a:pPr>
            <a:r>
              <a:rPr sz="1800" b="0">
                <a:solidFill>
                  <a:srgbClr val="1A1A1A"/>
                </a:solidFill>
                <a:latin typeface="Arial"/>
              </a:rPr>
              <a:t>L3 the operator's physical button</a:t>
            </a:r>
          </a:p>
        </p:txBody>
      </p:sp>
      <p:sp>
        <p:nvSpPr>
          <p:cNvPr id="5" name="Rectangle 4"/>
          <p:cNvSpPr/>
          <p:nvPr/>
        </p:nvSpPr>
        <p:spPr>
          <a:xfrm>
            <a:off x="685800" y="3886200"/>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40480"/>
            <a:ext cx="2148840" cy="731520"/>
          </a:xfrm>
          <a:prstGeom prst="rect">
            <a:avLst/>
          </a:prstGeom>
          <a:noFill/>
        </p:spPr>
        <p:txBody>
          <a:bodyPr wrap="square" anchor="t" lIns="0" rIns="0" tIns="0" bIns="0">
            <a:spAutoFit/>
          </a:bodyPr>
          <a:lstStyle/>
          <a:p>
            <a:pPr algn="l">
              <a:lnSpc>
                <a:spcPct val="110000"/>
              </a:lnSpc>
              <a:spcAft>
                <a:spcPts val="600"/>
              </a:spcAft>
            </a:pPr>
            <a:r>
              <a:rPr sz="3000" b="1">
                <a:solidFill>
                  <a:srgbClr val="1A1A1A"/>
                </a:solidFill>
                <a:latin typeface="Arial"/>
              </a:rPr>
              <a:t>52 of 52</a:t>
            </a:r>
          </a:p>
        </p:txBody>
      </p:sp>
      <p:sp>
        <p:nvSpPr>
          <p:cNvPr id="7" name="TextBox 6"/>
          <p:cNvSpPr txBox="1"/>
          <p:nvPr/>
        </p:nvSpPr>
        <p:spPr>
          <a:xfrm>
            <a:off x="914400" y="4572000"/>
            <a:ext cx="2148840" cy="822960"/>
          </a:xfrm>
          <a:prstGeom prst="rect">
            <a:avLst/>
          </a:prstGeom>
          <a:noFill/>
        </p:spPr>
        <p:txBody>
          <a:bodyPr wrap="square" anchor="t" lIns="0" rIns="0" tIns="0" bIns="0">
            <a:spAutoFit/>
          </a:bodyPr>
          <a:lstStyle/>
          <a:p>
            <a:pPr algn="l">
              <a:lnSpc>
                <a:spcPct val="110000"/>
              </a:lnSpc>
              <a:spcAft>
                <a:spcPts val="600"/>
              </a:spcAft>
            </a:pPr>
            <a:r>
              <a:rPr sz="1300" b="0">
                <a:solidFill>
                  <a:srgbClr val="5C5C5C"/>
                </a:solidFill>
                <a:latin typeface="Arial"/>
              </a:rPr>
              <a:t>attacks blocked</a:t>
            </a:r>
          </a:p>
        </p:txBody>
      </p:sp>
      <p:sp>
        <p:nvSpPr>
          <p:cNvPr id="8" name="Rectangle 7"/>
          <p:cNvSpPr/>
          <p:nvPr/>
        </p:nvSpPr>
        <p:spPr>
          <a:xfrm>
            <a:off x="3200400" y="3886200"/>
            <a:ext cx="54864" cy="1417320"/>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3840480"/>
            <a:ext cx="2148840" cy="731520"/>
          </a:xfrm>
          <a:prstGeom prst="rect">
            <a:avLst/>
          </a:prstGeom>
          <a:noFill/>
        </p:spPr>
        <p:txBody>
          <a:bodyPr wrap="square" anchor="t" lIns="0" rIns="0" tIns="0" bIns="0">
            <a:spAutoFit/>
          </a:bodyPr>
          <a:lstStyle/>
          <a:p>
            <a:pPr algn="l">
              <a:lnSpc>
                <a:spcPct val="110000"/>
              </a:lnSpc>
              <a:spcAft>
                <a:spcPts val="600"/>
              </a:spcAft>
            </a:pPr>
            <a:r>
              <a:rPr sz="3000" b="1">
                <a:solidFill>
                  <a:srgbClr val="1A1A1A"/>
                </a:solidFill>
                <a:latin typeface="Arial"/>
              </a:rPr>
              <a:t>7 of 7</a:t>
            </a:r>
          </a:p>
        </p:txBody>
      </p:sp>
      <p:sp>
        <p:nvSpPr>
          <p:cNvPr id="10" name="TextBox 9"/>
          <p:cNvSpPr txBox="1"/>
          <p:nvPr/>
        </p:nvSpPr>
        <p:spPr>
          <a:xfrm>
            <a:off x="3429000" y="4572000"/>
            <a:ext cx="2148840" cy="822960"/>
          </a:xfrm>
          <a:prstGeom prst="rect">
            <a:avLst/>
          </a:prstGeom>
          <a:noFill/>
        </p:spPr>
        <p:txBody>
          <a:bodyPr wrap="square" anchor="t" lIns="0" rIns="0" tIns="0" bIns="0">
            <a:spAutoFit/>
          </a:bodyPr>
          <a:lstStyle/>
          <a:p>
            <a:pPr algn="l">
              <a:lnSpc>
                <a:spcPct val="110000"/>
              </a:lnSpc>
              <a:spcAft>
                <a:spcPts val="600"/>
              </a:spcAft>
            </a:pPr>
            <a:r>
              <a:rPr sz="1300" b="0">
                <a:solidFill>
                  <a:srgbClr val="5C5C5C"/>
                </a:solidFill>
                <a:latin typeface="Arial"/>
              </a:rPr>
              <a:t>benign messages pass</a:t>
            </a:r>
          </a:p>
        </p:txBody>
      </p:sp>
      <p:sp>
        <p:nvSpPr>
          <p:cNvPr id="11" name="TextBox 10"/>
          <p:cNvSpPr txBox="1"/>
          <p:nvPr/>
        </p:nvSpPr>
        <p:spPr>
          <a:xfrm>
            <a:off x="685800" y="5394960"/>
            <a:ext cx="4937760" cy="548640"/>
          </a:xfrm>
          <a:prstGeom prst="rect">
            <a:avLst/>
          </a:prstGeom>
          <a:noFill/>
        </p:spPr>
        <p:txBody>
          <a:bodyPr wrap="square" anchor="t" lIns="0" rIns="0" tIns="0" bIns="0">
            <a:spAutoFit/>
          </a:bodyPr>
          <a:lstStyle/>
          <a:p>
            <a:pPr algn="l">
              <a:lnSpc>
                <a:spcPct val="110000"/>
              </a:lnSpc>
              <a:spcAft>
                <a:spcPts val="600"/>
              </a:spcAft>
            </a:pPr>
            <a:r>
              <a:rPr sz="1300" b="0">
                <a:solidFill>
                  <a:srgbClr val="5C5C5C"/>
                </a:solidFill>
                <a:latin typeface="Arial"/>
              </a:rPr>
              <a:t>21 policy rule lines. A naive wallet falls to 51 of 52. The classifier alone holds 13 of 52; the rules and the policy do the rest.</a:t>
            </a:r>
          </a:p>
        </p:txBody>
      </p:sp>
      <p:pic>
        <p:nvPicPr>
          <p:cNvPr id="12" name="Picture 11" descr="evidence-crop.png"/>
          <p:cNvPicPr>
            <a:picLocks noChangeAspect="1"/>
          </p:cNvPicPr>
          <p:nvPr/>
        </p:nvPicPr>
        <p:blipFill>
          <a:blip r:embed="rId2"/>
          <a:stretch>
            <a:fillRect/>
          </a:stretch>
        </p:blipFill>
        <p:spPr>
          <a:xfrm>
            <a:off x="6035040" y="1600200"/>
            <a:ext cx="5486400" cy="2971800"/>
          </a:xfrm>
          <a:prstGeom prst="rect">
            <a:avLst/>
          </a:prstGeom>
        </p:spPr>
      </p:pic>
      <p:sp>
        <p:nvSpPr>
          <p:cNvPr id="13" name="TextBox 12"/>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4" name="TextBox 13"/>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7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TWO BONDS, SLASHED ONLY BY PROOF</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The pilot never pays for the AI</a:t>
            </a:r>
          </a:p>
        </p:txBody>
      </p:sp>
      <p:sp>
        <p:nvSpPr>
          <p:cNvPr id="4" name="Rectangle 3"/>
          <p:cNvSpPr/>
          <p:nvPr/>
        </p:nvSpPr>
        <p:spPr>
          <a:xfrm>
            <a:off x="685800" y="1645919"/>
            <a:ext cx="5257800" cy="237744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19"/>
            <a:ext cx="52578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39"/>
            <a:ext cx="4709160" cy="548640"/>
          </a:xfrm>
          <a:prstGeom prst="rect">
            <a:avLst/>
          </a:prstGeom>
          <a:noFill/>
        </p:spPr>
        <p:txBody>
          <a:bodyPr wrap="square" anchor="t" lIns="0" rIns="0" tIns="0" bIns="0">
            <a:spAutoFit/>
          </a:bodyPr>
          <a:lstStyle/>
          <a:p>
            <a:pPr algn="l">
              <a:lnSpc>
                <a:spcPct val="110000"/>
              </a:lnSpc>
              <a:spcAft>
                <a:spcPts val="600"/>
              </a:spcAft>
            </a:pPr>
            <a:r>
              <a:rPr sz="2400" b="1">
                <a:solidFill>
                  <a:srgbClr val="1A1A1A"/>
                </a:solidFill>
                <a:latin typeface="Arial"/>
              </a:rPr>
              <a:t>Pilot bond</a:t>
            </a:r>
          </a:p>
        </p:txBody>
      </p:sp>
      <p:sp>
        <p:nvSpPr>
          <p:cNvPr id="7" name="TextBox 6"/>
          <p:cNvSpPr txBox="1"/>
          <p:nvPr/>
        </p:nvSpPr>
        <p:spPr>
          <a:xfrm>
            <a:off x="960120" y="2514600"/>
            <a:ext cx="4709160" cy="1371600"/>
          </a:xfrm>
          <a:prstGeom prst="rect">
            <a:avLst/>
          </a:prstGeom>
          <a:noFill/>
        </p:spPr>
        <p:txBody>
          <a:bodyPr wrap="square" anchor="t" lIns="0" rIns="0" tIns="0" bIns="0">
            <a:spAutoFit/>
          </a:bodyPr>
          <a:lstStyle/>
          <a:p>
            <a:pPr algn="l">
              <a:lnSpc>
                <a:spcPct val="110000"/>
              </a:lnSpc>
              <a:spcAft>
                <a:spcPts val="600"/>
              </a:spcAft>
            </a:pPr>
            <a:r>
              <a:rPr sz="2000" b="0">
                <a:solidFill>
                  <a:srgbClr val="5C5C5C"/>
                </a:solidFill>
                <a:latin typeface="Arial"/>
              </a:rPr>
              <a:t>Earned from fees. Slashed for the pilot's own cheating, such as a faked flight log.</a:t>
            </a:r>
          </a:p>
        </p:txBody>
      </p:sp>
      <p:sp>
        <p:nvSpPr>
          <p:cNvPr id="8" name="Rectangle 7"/>
          <p:cNvSpPr/>
          <p:nvPr/>
        </p:nvSpPr>
        <p:spPr>
          <a:xfrm>
            <a:off x="6217920" y="1645919"/>
            <a:ext cx="5257800" cy="237744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19"/>
            <a:ext cx="52578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39"/>
            <a:ext cx="4709160" cy="548640"/>
          </a:xfrm>
          <a:prstGeom prst="rect">
            <a:avLst/>
          </a:prstGeom>
          <a:noFill/>
        </p:spPr>
        <p:txBody>
          <a:bodyPr wrap="square" anchor="t" lIns="0" rIns="0" tIns="0" bIns="0">
            <a:spAutoFit/>
          </a:bodyPr>
          <a:lstStyle/>
          <a:p>
            <a:pPr algn="l">
              <a:lnSpc>
                <a:spcPct val="110000"/>
              </a:lnSpc>
              <a:spcAft>
                <a:spcPts val="600"/>
              </a:spcAft>
            </a:pPr>
            <a:r>
              <a:rPr sz="2400" b="1">
                <a:solidFill>
                  <a:srgbClr val="1A1A1A"/>
                </a:solidFill>
                <a:latin typeface="Arial"/>
              </a:rPr>
              <a:t>Vendor bond, 5,000 yuan</a:t>
            </a:r>
          </a:p>
        </p:txBody>
      </p:sp>
      <p:sp>
        <p:nvSpPr>
          <p:cNvPr id="11" name="TextBox 10"/>
          <p:cNvSpPr txBox="1"/>
          <p:nvPr/>
        </p:nvSpPr>
        <p:spPr>
          <a:xfrm>
            <a:off x="6492240" y="2514600"/>
            <a:ext cx="4709160" cy="1371600"/>
          </a:xfrm>
          <a:prstGeom prst="rect">
            <a:avLst/>
          </a:prstGeom>
          <a:noFill/>
        </p:spPr>
        <p:txBody>
          <a:bodyPr wrap="square" anchor="t" lIns="0" rIns="0" tIns="0" bIns="0">
            <a:spAutoFit/>
          </a:bodyPr>
          <a:lstStyle/>
          <a:p>
            <a:pPr algn="l">
              <a:lnSpc>
                <a:spcPct val="110000"/>
              </a:lnSpc>
              <a:spcAft>
                <a:spcPts val="600"/>
              </a:spcAft>
            </a:pPr>
            <a:r>
              <a:rPr sz="2000" b="0">
                <a:solidFill>
                  <a:srgbClr val="5C5C5C"/>
                </a:solidFill>
                <a:latin typeface="Arial"/>
              </a:rPr>
              <a:t>Posted by us. Slashed for the agent's mistakes, never the pilot's money.</a:t>
            </a:r>
          </a:p>
        </p:txBody>
      </p:sp>
      <p:sp>
        <p:nvSpPr>
          <p:cNvPr id="12" name="TextBox 11"/>
          <p:cNvSpPr txBox="1"/>
          <p:nvPr/>
        </p:nvSpPr>
        <p:spPr>
          <a:xfrm>
            <a:off x="685800" y="4389120"/>
            <a:ext cx="10789920" cy="1371600"/>
          </a:xfrm>
          <a:prstGeom prst="rect">
            <a:avLst/>
          </a:prstGeom>
          <a:noFill/>
        </p:spPr>
        <p:txBody>
          <a:bodyPr wrap="square" anchor="t" lIns="0" rIns="0" tIns="0" bIns="0">
            <a:spAutoFit/>
          </a:bodyPr>
          <a:lstStyle/>
          <a:p>
            <a:pPr algn="l">
              <a:lnSpc>
                <a:spcPct val="110000"/>
              </a:lnSpc>
              <a:spcAft>
                <a:spcPts val="600"/>
              </a:spcAft>
            </a:pPr>
            <a:r>
              <a:rPr sz="1900" b="0">
                <a:solidFill>
                  <a:srgbClr val="1A1A1A"/>
                </a:solidFill>
                <a:latin typeface="Arial"/>
              </a:rPr>
              <a:t>A slash needs a signed intent in the on chain log that breaks a rule the contract can check against its own records. Only a party of the job can submit. No trusted judge.</a:t>
            </a:r>
          </a:p>
        </p:txBody>
      </p:sp>
      <p:sp>
        <p:nvSpPr>
          <p:cNvPr id="13" name="TextBox 12"/>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4" name="TextBox 13"/>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8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ON CHAIN</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One loop, two ledgers, every receipt re-checked</a:t>
            </a:r>
          </a:p>
        </p:txBody>
      </p:sp>
      <p:sp>
        <p:nvSpPr>
          <p:cNvPr id="4" name="Rectangle 3"/>
          <p:cNvSpPr/>
          <p:nvPr/>
        </p:nvSpPr>
        <p:spPr>
          <a:xfrm>
            <a:off x="685800" y="1645919"/>
            <a:ext cx="3429000" cy="35661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19"/>
            <a:ext cx="34290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39"/>
            <a:ext cx="2880360" cy="54864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26 of 26</a:t>
            </a:r>
          </a:p>
        </p:txBody>
      </p:sp>
      <p:sp>
        <p:nvSpPr>
          <p:cNvPr id="7" name="TextBox 6"/>
          <p:cNvSpPr txBox="1"/>
          <p:nvPr/>
        </p:nvSpPr>
        <p:spPr>
          <a:xfrm>
            <a:off x="960120" y="2514600"/>
            <a:ext cx="2880360" cy="2560320"/>
          </a:xfrm>
          <a:prstGeom prst="rect">
            <a:avLst/>
          </a:prstGeom>
          <a:noFill/>
        </p:spPr>
        <p:txBody>
          <a:bodyPr wrap="square" anchor="t" lIns="0" rIns="0" tIns="0" bIns="0">
            <a:spAutoFit/>
          </a:bodyPr>
          <a:lstStyle/>
          <a:p>
            <a:pPr algn="l">
              <a:lnSpc>
                <a:spcPct val="110000"/>
              </a:lnSpc>
              <a:spcAft>
                <a:spcPts val="600"/>
              </a:spcAft>
            </a:pPr>
            <a:r>
              <a:rPr sz="1600" b="0">
                <a:solidFill>
                  <a:srgbClr val="5C5C5C"/>
                </a:solidFill>
                <a:latin typeface="Arial"/>
              </a:rPr>
              <a:t>contract calls on FISCO BCOS from one engine fleet run. Lender paid 650 yuan through Lease, vendor bond 5,000 to 4,800 yuan by proof, lease at 0, title to the pilot.</a:t>
            </a:r>
          </a:p>
        </p:txBody>
      </p:sp>
      <p:sp>
        <p:nvSpPr>
          <p:cNvPr id="8" name="Rectangle 7"/>
          <p:cNvSpPr/>
          <p:nvPr/>
        </p:nvSpPr>
        <p:spPr>
          <a:xfrm>
            <a:off x="4297680" y="1645919"/>
            <a:ext cx="3429000" cy="35661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645919"/>
            <a:ext cx="34290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0239"/>
            <a:ext cx="2880360" cy="54864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9 of 9</a:t>
            </a:r>
          </a:p>
        </p:txBody>
      </p:sp>
      <p:sp>
        <p:nvSpPr>
          <p:cNvPr id="11" name="TextBox 10"/>
          <p:cNvSpPr txBox="1"/>
          <p:nvPr/>
        </p:nvSpPr>
        <p:spPr>
          <a:xfrm>
            <a:off x="4572000" y="2514600"/>
            <a:ext cx="2880360" cy="2560320"/>
          </a:xfrm>
          <a:prstGeom prst="rect">
            <a:avLst/>
          </a:prstGeom>
          <a:noFill/>
        </p:spPr>
        <p:txBody>
          <a:bodyPr wrap="square" anchor="t" lIns="0" rIns="0" tIns="0" bIns="0">
            <a:spAutoFit/>
          </a:bodyPr>
          <a:lstStyle/>
          <a:p>
            <a:pPr algn="l">
              <a:lnSpc>
                <a:spcPct val="110000"/>
              </a:lnSpc>
              <a:spcAft>
                <a:spcPts val="600"/>
              </a:spcAft>
            </a:pPr>
            <a:r>
              <a:rPr sz="1600" b="0">
                <a:solidFill>
                  <a:srgbClr val="5C5C5C"/>
                </a:solidFill>
                <a:latin typeface="Arial"/>
              </a:rPr>
              <a:t>contract calls in one full job on the deployed contracts on Base Sepolia, real value: fee locked, confirmed, instalment paid, vendor bond slashed, title moved.</a:t>
            </a:r>
          </a:p>
        </p:txBody>
      </p:sp>
      <p:sp>
        <p:nvSpPr>
          <p:cNvPr id="12" name="Rectangle 11"/>
          <p:cNvSpPr/>
          <p:nvPr/>
        </p:nvSpPr>
        <p:spPr>
          <a:xfrm>
            <a:off x="7909560" y="1645919"/>
            <a:ext cx="3429000" cy="35661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09560" y="1645919"/>
            <a:ext cx="3429000"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920239"/>
            <a:ext cx="2880360" cy="54864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329 of 329</a:t>
            </a:r>
          </a:p>
        </p:txBody>
      </p:sp>
      <p:sp>
        <p:nvSpPr>
          <p:cNvPr id="15" name="TextBox 14"/>
          <p:cNvSpPr txBox="1"/>
          <p:nvPr/>
        </p:nvSpPr>
        <p:spPr>
          <a:xfrm>
            <a:off x="8183880" y="2514600"/>
            <a:ext cx="2880360" cy="2560320"/>
          </a:xfrm>
          <a:prstGeom prst="rect">
            <a:avLst/>
          </a:prstGeom>
          <a:noFill/>
        </p:spPr>
        <p:txBody>
          <a:bodyPr wrap="square" anchor="t" lIns="0" rIns="0" tIns="0" bIns="0">
            <a:spAutoFit/>
          </a:bodyPr>
          <a:lstStyle/>
          <a:p>
            <a:pPr algn="l">
              <a:lnSpc>
                <a:spcPct val="110000"/>
              </a:lnSpc>
              <a:spcAft>
                <a:spcPts val="600"/>
              </a:spcAft>
            </a:pPr>
            <a:r>
              <a:rPr sz="1600" b="0">
                <a:solidFill>
                  <a:srgbClr val="5C5C5C"/>
                </a:solidFill>
                <a:latin typeface="Arial"/>
              </a:rPr>
              <a:t>receipts re-fetched by pnpm verify:all on Base Sepolia and FISCO BCOS, with 46 intent hashes decoded from calldata.</a:t>
            </a:r>
          </a:p>
        </p:txBody>
      </p:sp>
      <p:sp>
        <p:nvSpPr>
          <p:cNvPr id="16" name="TextBox 15"/>
          <p:cNvSpPr txBox="1"/>
          <p:nvPr/>
        </p:nvSpPr>
        <p:spPr>
          <a:xfrm>
            <a:off x="685800" y="5394960"/>
            <a:ext cx="10789920" cy="45720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4 contracts deployed on Base Sepolia, source verified on Sourcify. 15 of 15 intents sent to both chains in the same step, same hash.</a:t>
            </a:r>
          </a:p>
        </p:txBody>
      </p:sp>
      <p:sp>
        <p:nvSpPr>
          <p:cNvPr id="17" name="TextBox 16"/>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8" name="TextBox 17"/>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9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BUILT ON WEBANK'S STACK</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FISCO BCOS as the lender's ledger, FATE for credit</a:t>
            </a:r>
          </a:p>
        </p:txBody>
      </p:sp>
      <p:sp>
        <p:nvSpPr>
          <p:cNvPr id="4" name="Rectangle 3"/>
          <p:cNvSpPr/>
          <p:nvPr/>
        </p:nvSpPr>
        <p:spPr>
          <a:xfrm>
            <a:off x="685800" y="1645919"/>
            <a:ext cx="3429000" cy="3749039"/>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19"/>
            <a:ext cx="34290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39"/>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FISCO BCOS 3.16.3</a:t>
            </a:r>
          </a:p>
        </p:txBody>
      </p:sp>
      <p:sp>
        <p:nvSpPr>
          <p:cNvPr id="7" name="TextBox 6"/>
          <p:cNvSpPr txBox="1"/>
          <p:nvPr/>
        </p:nvSpPr>
        <p:spPr>
          <a:xfrm>
            <a:off x="960120" y="2514600"/>
            <a:ext cx="2880360" cy="2743199"/>
          </a:xfrm>
          <a:prstGeom prst="rect">
            <a:avLst/>
          </a:prstGeom>
          <a:noFill/>
        </p:spPr>
        <p:txBody>
          <a:bodyPr wrap="square" anchor="t" lIns="0" rIns="0" tIns="0" bIns="0">
            <a:spAutoFit/>
          </a:bodyPr>
          <a:lstStyle/>
          <a:p>
            <a:pPr algn="l">
              <a:lnSpc>
                <a:spcPct val="110000"/>
              </a:lnSpc>
              <a:spcAft>
                <a:spcPts val="600"/>
              </a:spcAft>
            </a:pPr>
            <a:r>
              <a:rPr sz="1700" b="0">
                <a:solidFill>
                  <a:srgbClr val="5C5C5C"/>
                </a:solidFill>
                <a:latin typeface="Arial"/>
              </a:rPr>
              <a:t>The same four contracts as the lender's ledger.</a:t>
            </a:r>
          </a:p>
          <a:p>
            <a:pPr algn="l">
              <a:lnSpc>
                <a:spcPct val="110000"/>
              </a:lnSpc>
              <a:spcAft>
                <a:spcPts val="600"/>
              </a:spcAft>
            </a:pPr>
            <a:r>
              <a:rPr sz="1700" b="0">
                <a:solidFill>
                  <a:srgbClr val="5C5C5C"/>
                </a:solidFill>
                <a:latin typeface="Arial"/>
              </a:rPr>
              <a:t>30 of 30 intent hashes read back equal the engine's.</a:t>
            </a:r>
          </a:p>
          <a:p>
            <a:pPr algn="l">
              <a:lnSpc>
                <a:spcPct val="110000"/>
              </a:lnSpc>
              <a:spcAft>
                <a:spcPts val="600"/>
              </a:spcAft>
            </a:pPr>
            <a:r>
              <a:rPr sz="1700" b="0">
                <a:solidFill>
                  <a:srgbClr val="5C5C5C"/>
                </a:solidFill>
                <a:latin typeface="Arial"/>
              </a:rPr>
              <a:t>Agent bound IntentLogV2 fixes front running.</a:t>
            </a:r>
          </a:p>
        </p:txBody>
      </p:sp>
      <p:sp>
        <p:nvSpPr>
          <p:cNvPr id="8" name="Rectangle 7"/>
          <p:cNvSpPr/>
          <p:nvPr/>
        </p:nvSpPr>
        <p:spPr>
          <a:xfrm>
            <a:off x="4297680" y="1645919"/>
            <a:ext cx="3429000" cy="3749039"/>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645919"/>
            <a:ext cx="34290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0239"/>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FATE 2.2</a:t>
            </a:r>
          </a:p>
        </p:txBody>
      </p:sp>
      <p:sp>
        <p:nvSpPr>
          <p:cNvPr id="11" name="TextBox 10"/>
          <p:cNvSpPr txBox="1"/>
          <p:nvPr/>
        </p:nvSpPr>
        <p:spPr>
          <a:xfrm>
            <a:off x="4572000" y="2514600"/>
            <a:ext cx="2880360" cy="2743199"/>
          </a:xfrm>
          <a:prstGeom prst="rect">
            <a:avLst/>
          </a:prstGeom>
          <a:noFill/>
        </p:spPr>
        <p:txBody>
          <a:bodyPr wrap="square" anchor="t" lIns="0" rIns="0" tIns="0" bIns="0">
            <a:spAutoFit/>
          </a:bodyPr>
          <a:lstStyle/>
          <a:p>
            <a:pPr algn="l">
              <a:lnSpc>
                <a:spcPct val="110000"/>
              </a:lnSpc>
              <a:spcAft>
                <a:spcPts val="600"/>
              </a:spcAft>
            </a:pPr>
            <a:r>
              <a:rPr sz="1700" b="0">
                <a:solidFill>
                  <a:srgbClr val="5C5C5C"/>
                </a:solidFill>
                <a:latin typeface="Arial"/>
              </a:rPr>
              <a:t>Three lenders train one pilot credit model, no raw records shared.</a:t>
            </a:r>
          </a:p>
          <a:p>
            <a:pPr algn="l">
              <a:lnSpc>
                <a:spcPct val="110000"/>
              </a:lnSpc>
              <a:spcAft>
                <a:spcPts val="600"/>
              </a:spcAft>
            </a:pPr>
            <a:r>
              <a:rPr sz="1700" b="0">
                <a:solidFill>
                  <a:srgbClr val="5C5C5C"/>
                </a:solidFill>
                <a:latin typeface="Arial"/>
              </a:rPr>
              <a:t>AUC 0.729 alone, 0.782 federated, the same as pooling.</a:t>
            </a:r>
          </a:p>
          <a:p>
            <a:pPr algn="l">
              <a:lnSpc>
                <a:spcPct val="110000"/>
              </a:lnSpc>
              <a:spcAft>
                <a:spcPts val="600"/>
              </a:spcAft>
            </a:pPr>
            <a:r>
              <a:rPr sz="1700" b="0">
                <a:solidFill>
                  <a:srgbClr val="5C5C5C"/>
                </a:solidFill>
                <a:latin typeface="Arial"/>
              </a:rPr>
              <a:t>New pilot rate error 335 to 153 basis points.</a:t>
            </a:r>
          </a:p>
        </p:txBody>
      </p:sp>
      <p:sp>
        <p:nvSpPr>
          <p:cNvPr id="12" name="Rectangle 11"/>
          <p:cNvSpPr/>
          <p:nvPr/>
        </p:nvSpPr>
        <p:spPr>
          <a:xfrm>
            <a:off x="7909560" y="1645919"/>
            <a:ext cx="3429000" cy="3749039"/>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09560" y="1645919"/>
            <a:ext cx="3429000"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920239"/>
            <a:ext cx="28803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Model fingerprint</a:t>
            </a:r>
          </a:p>
        </p:txBody>
      </p:sp>
      <p:sp>
        <p:nvSpPr>
          <p:cNvPr id="15" name="TextBox 14"/>
          <p:cNvSpPr txBox="1"/>
          <p:nvPr/>
        </p:nvSpPr>
        <p:spPr>
          <a:xfrm>
            <a:off x="8183880" y="2514600"/>
            <a:ext cx="2880360" cy="2743199"/>
          </a:xfrm>
          <a:prstGeom prst="rect">
            <a:avLst/>
          </a:prstGeom>
          <a:noFill/>
        </p:spPr>
        <p:txBody>
          <a:bodyPr wrap="square" anchor="t" lIns="0" rIns="0" tIns="0" bIns="0">
            <a:spAutoFit/>
          </a:bodyPr>
          <a:lstStyle/>
          <a:p>
            <a:pPr algn="l">
              <a:lnSpc>
                <a:spcPct val="110000"/>
              </a:lnSpc>
              <a:spcAft>
                <a:spcPts val="600"/>
              </a:spcAft>
            </a:pPr>
            <a:r>
              <a:rPr sz="1700" b="0">
                <a:solidFill>
                  <a:srgbClr val="5C5C5C"/>
                </a:solidFill>
                <a:latin typeface="Arial"/>
              </a:rPr>
              <a:t>The sha256 of the FATE model is committed to the FISCO IntentLog and read back.</a:t>
            </a:r>
          </a:p>
          <a:p>
            <a:pPr algn="l">
              <a:lnSpc>
                <a:spcPct val="110000"/>
              </a:lnSpc>
              <a:spcAft>
                <a:spcPts val="600"/>
              </a:spcAft>
            </a:pPr>
            <a:r>
              <a:rPr sz="1700" b="0">
                <a:solidFill>
                  <a:srgbClr val="5C5C5C"/>
                </a:solidFill>
                <a:latin typeface="Arial"/>
              </a:rPr>
              <a:t>A lender or regulator can prove which model priced a pilot.</a:t>
            </a:r>
          </a:p>
        </p:txBody>
      </p:sp>
      <p:sp>
        <p:nvSpPr>
          <p:cNvPr id="16" name="TextBox 15"/>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7" name="TextBox 16"/>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10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SECURITY AND COMPLIANCE</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Built for a regulated lender</a:t>
            </a:r>
          </a:p>
        </p:txBody>
      </p:sp>
      <p:sp>
        <p:nvSpPr>
          <p:cNvPr id="4" name="Rectangle 3"/>
          <p:cNvSpPr/>
          <p:nvPr/>
        </p:nvSpPr>
        <p:spPr>
          <a:xfrm>
            <a:off x="685800" y="1645919"/>
            <a:ext cx="5257800" cy="40233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19"/>
            <a:ext cx="52578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39"/>
            <a:ext cx="47091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Security</a:t>
            </a:r>
          </a:p>
        </p:txBody>
      </p:sp>
      <p:sp>
        <p:nvSpPr>
          <p:cNvPr id="7" name="TextBox 6"/>
          <p:cNvSpPr txBox="1"/>
          <p:nvPr/>
        </p:nvSpPr>
        <p:spPr>
          <a:xfrm>
            <a:off x="960120" y="2514600"/>
            <a:ext cx="4709160" cy="3017520"/>
          </a:xfrm>
          <a:prstGeom prst="rect">
            <a:avLst/>
          </a:prstGeom>
          <a:noFill/>
        </p:spPr>
        <p:txBody>
          <a:bodyPr wrap="square" anchor="t" lIns="0" rIns="0" tIns="0" bIns="0">
            <a:spAutoFit/>
          </a:bodyPr>
          <a:lstStyle/>
          <a:p>
            <a:pPr algn="l">
              <a:lnSpc>
                <a:spcPct val="110000"/>
              </a:lnSpc>
              <a:spcAft>
                <a:spcPts val="600"/>
              </a:spcAft>
            </a:pPr>
            <a:r>
              <a:rPr sz="1600" b="0">
                <a:solidFill>
                  <a:srgbClr val="5C5C5C"/>
                </a:solidFill>
                <a:latin typeface="Arial"/>
              </a:rPr>
              <a:t>Actor keys random per server instance, in memory. The model process holds none.</a:t>
            </a:r>
          </a:p>
          <a:p>
            <a:pPr algn="l">
              <a:lnSpc>
                <a:spcPct val="110000"/>
              </a:lnSpc>
              <a:spcAft>
                <a:spcPts val="600"/>
              </a:spcAft>
            </a:pPr>
            <a:r>
              <a:rPr sz="1600" b="0">
                <a:solidFill>
                  <a:srgbClr val="5C5C5C"/>
                </a:solidFill>
                <a:latin typeface="Arial"/>
              </a:rPr>
              <a:t>Front running fixed: IntentLogV2 accepts a commit only from the job's agent (on FISCO).</a:t>
            </a:r>
          </a:p>
          <a:p>
            <a:pPr algn="l">
              <a:lnSpc>
                <a:spcPct val="110000"/>
              </a:lnSpc>
              <a:spcAft>
                <a:spcPts val="600"/>
              </a:spcAft>
            </a:pPr>
            <a:r>
              <a:rPr sz="1600" b="0">
                <a:solidFill>
                  <a:srgbClr val="5C5C5C"/>
                </a:solidFill>
                <a:latin typeface="Arial"/>
              </a:rPr>
              <a:t>84 Foundry tests, 15 contract layer attacks among them.</a:t>
            </a:r>
          </a:p>
          <a:p>
            <a:pPr algn="l">
              <a:lnSpc>
                <a:spcPct val="110000"/>
              </a:lnSpc>
              <a:spcAft>
                <a:spcPts val="600"/>
              </a:spcAft>
            </a:pPr>
            <a:r>
              <a:rPr sz="1600" b="0">
                <a:solidFill>
                  <a:srgbClr val="5C5C5C"/>
                </a:solidFill>
                <a:latin typeface="Arial"/>
              </a:rPr>
              <a:t>0 open findings of medium or higher: Slither (42 triaged), pnpm audit, gitleaks.</a:t>
            </a:r>
          </a:p>
        </p:txBody>
      </p:sp>
      <p:sp>
        <p:nvSpPr>
          <p:cNvPr id="8" name="Rectangle 7"/>
          <p:cNvSpPr/>
          <p:nvPr/>
        </p:nvSpPr>
        <p:spPr>
          <a:xfrm>
            <a:off x="6217920" y="1645919"/>
            <a:ext cx="5257800" cy="402336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19"/>
            <a:ext cx="52578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39"/>
            <a:ext cx="47091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Compliance map</a:t>
            </a:r>
          </a:p>
        </p:txBody>
      </p:sp>
      <p:sp>
        <p:nvSpPr>
          <p:cNvPr id="11" name="TextBox 10"/>
          <p:cNvSpPr txBox="1"/>
          <p:nvPr/>
        </p:nvSpPr>
        <p:spPr>
          <a:xfrm>
            <a:off x="6492240" y="2514600"/>
            <a:ext cx="4709160" cy="3017520"/>
          </a:xfrm>
          <a:prstGeom prst="rect">
            <a:avLst/>
          </a:prstGeom>
          <a:noFill/>
        </p:spPr>
        <p:txBody>
          <a:bodyPr wrap="square" anchor="t" lIns="0" rIns="0" tIns="0" bIns="0">
            <a:spAutoFit/>
          </a:bodyPr>
          <a:lstStyle/>
          <a:p>
            <a:pPr algn="l">
              <a:lnSpc>
                <a:spcPct val="110000"/>
              </a:lnSpc>
              <a:spcAft>
                <a:spcPts val="600"/>
              </a:spcAft>
            </a:pPr>
            <a:r>
              <a:rPr sz="1600" b="0">
                <a:solidFill>
                  <a:srgbClr val="5C5C5C"/>
                </a:solidFill>
                <a:latin typeface="Arial"/>
              </a:rPr>
              <a:t>PIPL Art. 24: decisions by written rules, the person can ask why. Hashes only on chain.</a:t>
            </a:r>
          </a:p>
          <a:p>
            <a:pPr algn="l">
              <a:lnSpc>
                <a:spcPct val="110000"/>
              </a:lnSpc>
              <a:spcAft>
                <a:spcPts val="600"/>
              </a:spcAft>
            </a:pPr>
            <a:r>
              <a:rPr sz="1600" b="0">
                <a:solidFill>
                  <a:srgbClr val="5C5C5C"/>
                </a:solidFill>
                <a:latin typeface="Arial"/>
              </a:rPr>
              <a:t>NFRA: a licensed leasing company is the lessor and lender.</a:t>
            </a:r>
          </a:p>
          <a:p>
            <a:pPr algn="l">
              <a:lnSpc>
                <a:spcPct val="110000"/>
              </a:lnSpc>
              <a:spcAft>
                <a:spcPts val="600"/>
              </a:spcAft>
            </a:pPr>
            <a:r>
              <a:rPr sz="1600" b="0">
                <a:solidFill>
                  <a:srgbClr val="5C5C5C"/>
                </a:solidFill>
                <a:latin typeface="Arial"/>
              </a:rPr>
              <a:t>PBoC: fees settle through a licensed bank or payment institution, or e-CNY. The chain records, it does not custody.</a:t>
            </a:r>
          </a:p>
          <a:p>
            <a:pPr algn="l">
              <a:lnSpc>
                <a:spcPct val="110000"/>
              </a:lnSpc>
              <a:spcAft>
                <a:spcPts val="600"/>
              </a:spcAft>
            </a:pPr>
            <a:r>
              <a:rPr sz="1600" b="0">
                <a:solidFill>
                  <a:srgbClr val="5C5C5C"/>
                </a:solidFill>
                <a:latin typeface="Arial"/>
              </a:rPr>
              <a:t>CAAC: the pilot holds the operator licence, the drone is real name registered.</a:t>
            </a:r>
          </a:p>
        </p:txBody>
      </p:sp>
      <p:sp>
        <p:nvSpPr>
          <p:cNvPr id="12" name="TextBox 11"/>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3" name="TextBox 12"/>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11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MEASURED, NOT ASSERTED</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Learned components, held out sets, 95% intervals</a:t>
            </a:r>
          </a:p>
        </p:txBody>
      </p:sp>
      <p:sp>
        <p:nvSpPr>
          <p:cNvPr id="4" name="Rectangle 3"/>
          <p:cNvSpPr/>
          <p:nvPr/>
        </p:nvSpPr>
        <p:spPr>
          <a:xfrm>
            <a:off x="685800" y="1645919"/>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246120" cy="73152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72 of 72</a:t>
            </a:r>
          </a:p>
        </p:txBody>
      </p:sp>
      <p:sp>
        <p:nvSpPr>
          <p:cNvPr id="6" name="TextBox 5"/>
          <p:cNvSpPr txBox="1"/>
          <p:nvPr/>
        </p:nvSpPr>
        <p:spPr>
          <a:xfrm>
            <a:off x="914400" y="23317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tampered flights held, interval 94.9 to 100%</a:t>
            </a:r>
          </a:p>
        </p:txBody>
      </p:sp>
      <p:sp>
        <p:nvSpPr>
          <p:cNvPr id="7" name="Rectangle 6"/>
          <p:cNvSpPr/>
          <p:nvPr/>
        </p:nvSpPr>
        <p:spPr>
          <a:xfrm>
            <a:off x="4297680" y="1645919"/>
            <a:ext cx="54864" cy="1417320"/>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00200"/>
            <a:ext cx="3246120" cy="73152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3.0%</a:t>
            </a:r>
          </a:p>
        </p:txBody>
      </p:sp>
      <p:sp>
        <p:nvSpPr>
          <p:cNvPr id="9" name="TextBox 8"/>
          <p:cNvSpPr txBox="1"/>
          <p:nvPr/>
        </p:nvSpPr>
        <p:spPr>
          <a:xfrm>
            <a:off x="4526280" y="23317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oracle false alarm, 13 of 428 honest, interval 1.8 to 5.1%</a:t>
            </a:r>
          </a:p>
        </p:txBody>
      </p:sp>
      <p:sp>
        <p:nvSpPr>
          <p:cNvPr id="10" name="Rectangle 9"/>
          <p:cNvSpPr/>
          <p:nvPr/>
        </p:nvSpPr>
        <p:spPr>
          <a:xfrm>
            <a:off x="7909560" y="1645919"/>
            <a:ext cx="54864" cy="1417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600200"/>
            <a:ext cx="3246120" cy="731520"/>
          </a:xfrm>
          <a:prstGeom prst="rect">
            <a:avLst/>
          </a:prstGeom>
          <a:noFill/>
        </p:spPr>
        <p:txBody>
          <a:bodyPr wrap="square" anchor="t" lIns="0" rIns="0" tIns="0" bIns="0">
            <a:spAutoFit/>
          </a:bodyPr>
          <a:lstStyle/>
          <a:p>
            <a:pPr algn="l">
              <a:lnSpc>
                <a:spcPct val="110000"/>
              </a:lnSpc>
              <a:spcAft>
                <a:spcPts val="600"/>
              </a:spcAft>
            </a:pPr>
            <a:r>
              <a:rPr sz="3400" b="1">
                <a:solidFill>
                  <a:srgbClr val="1A1A1A"/>
                </a:solidFill>
                <a:latin typeface="Arial"/>
              </a:rPr>
              <a:t>93.1%</a:t>
            </a:r>
          </a:p>
        </p:txBody>
      </p:sp>
      <p:sp>
        <p:nvSpPr>
          <p:cNvPr id="12" name="TextBox 11"/>
          <p:cNvSpPr txBox="1"/>
          <p:nvPr/>
        </p:nvSpPr>
        <p:spPr>
          <a:xfrm>
            <a:off x="8138160" y="23317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classifier accuracy on 87 held out messages, recall 81.3% (64.7 to 91.1%)</a:t>
            </a:r>
          </a:p>
        </p:txBody>
      </p:sp>
      <p:sp>
        <p:nvSpPr>
          <p:cNvPr id="13" name="Rectangle 12"/>
          <p:cNvSpPr/>
          <p:nvPr/>
        </p:nvSpPr>
        <p:spPr>
          <a:xfrm>
            <a:off x="685800" y="3703320"/>
            <a:ext cx="54864"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57600"/>
            <a:ext cx="3246120" cy="731520"/>
          </a:xfrm>
          <a:prstGeom prst="rect">
            <a:avLst/>
          </a:prstGeom>
          <a:noFill/>
        </p:spPr>
        <p:txBody>
          <a:bodyPr wrap="square" anchor="t" lIns="0" rIns="0" tIns="0" bIns="0">
            <a:spAutoFit/>
          </a:bodyPr>
          <a:lstStyle/>
          <a:p>
            <a:pPr algn="l">
              <a:lnSpc>
                <a:spcPct val="110000"/>
              </a:lnSpc>
              <a:spcAft>
                <a:spcPts val="600"/>
              </a:spcAft>
            </a:pPr>
            <a:r>
              <a:rPr sz="2600" b="1">
                <a:solidFill>
                  <a:srgbClr val="1A1A1A"/>
                </a:solidFill>
                <a:latin typeface="Arial"/>
              </a:rPr>
              <a:t>25,593 to 19,739</a:t>
            </a:r>
          </a:p>
        </p:txBody>
      </p:sp>
      <p:sp>
        <p:nvSpPr>
          <p:cNvPr id="15" name="TextBox 14"/>
          <p:cNvSpPr txBox="1"/>
          <p:nvPr/>
        </p:nvSpPr>
        <p:spPr>
          <a:xfrm>
            <a:off x="914400" y="43891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yuan, the lender's p95 loss without and with the two bonds</a:t>
            </a:r>
          </a:p>
        </p:txBody>
      </p:sp>
      <p:sp>
        <p:nvSpPr>
          <p:cNvPr id="16" name="Rectangle 15"/>
          <p:cNvSpPr/>
          <p:nvPr/>
        </p:nvSpPr>
        <p:spPr>
          <a:xfrm>
            <a:off x="4297680" y="3703320"/>
            <a:ext cx="54864" cy="1417320"/>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657600"/>
            <a:ext cx="3246120" cy="731520"/>
          </a:xfrm>
          <a:prstGeom prst="rect">
            <a:avLst/>
          </a:prstGeom>
          <a:noFill/>
        </p:spPr>
        <p:txBody>
          <a:bodyPr wrap="square" anchor="t" lIns="0" rIns="0" tIns="0" bIns="0">
            <a:spAutoFit/>
          </a:bodyPr>
          <a:lstStyle/>
          <a:p>
            <a:pPr algn="l">
              <a:lnSpc>
                <a:spcPct val="110000"/>
              </a:lnSpc>
              <a:spcAft>
                <a:spcPts val="600"/>
              </a:spcAft>
            </a:pPr>
            <a:r>
              <a:rPr sz="2600" b="1">
                <a:solidFill>
                  <a:srgbClr val="1A1A1A"/>
                </a:solidFill>
                <a:latin typeface="Arial"/>
              </a:rPr>
              <a:t>13.8% to 0.0%</a:t>
            </a:r>
          </a:p>
        </p:txBody>
      </p:sp>
      <p:sp>
        <p:nvSpPr>
          <p:cNvPr id="18" name="TextBox 17"/>
          <p:cNvSpPr txBox="1"/>
          <p:nvPr/>
        </p:nvSpPr>
        <p:spPr>
          <a:xfrm>
            <a:off x="4526280" y="43891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track feature false alarms at full detection, before and after Kalman smoothing</a:t>
            </a:r>
          </a:p>
        </p:txBody>
      </p:sp>
      <p:sp>
        <p:nvSpPr>
          <p:cNvPr id="19" name="Rectangle 18"/>
          <p:cNvSpPr/>
          <p:nvPr/>
        </p:nvSpPr>
        <p:spPr>
          <a:xfrm>
            <a:off x="7909560" y="3703320"/>
            <a:ext cx="54864" cy="1417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3657600"/>
            <a:ext cx="3246120" cy="731520"/>
          </a:xfrm>
          <a:prstGeom prst="rect">
            <a:avLst/>
          </a:prstGeom>
          <a:noFill/>
        </p:spPr>
        <p:txBody>
          <a:bodyPr wrap="square" anchor="t" lIns="0" rIns="0" tIns="0" bIns="0">
            <a:spAutoFit/>
          </a:bodyPr>
          <a:lstStyle/>
          <a:p>
            <a:pPr algn="l">
              <a:lnSpc>
                <a:spcPct val="110000"/>
              </a:lnSpc>
              <a:spcAft>
                <a:spcPts val="600"/>
              </a:spcAft>
            </a:pPr>
            <a:r>
              <a:rPr sz="2600" b="1">
                <a:solidFill>
                  <a:srgbClr val="1A1A1A"/>
                </a:solidFill>
                <a:latin typeface="Arial"/>
              </a:rPr>
              <a:t>100%</a:t>
            </a:r>
          </a:p>
        </p:txBody>
      </p:sp>
      <p:sp>
        <p:nvSpPr>
          <p:cNvPr id="21" name="TextBox 20"/>
          <p:cNvSpPr txBox="1"/>
          <p:nvPr/>
        </p:nvSpPr>
        <p:spPr>
          <a:xfrm>
            <a:off x="8138160" y="4389120"/>
            <a:ext cx="3246120" cy="82296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classifier precision, 26 of 26, false alarm 0 of 55</a:t>
            </a:r>
          </a:p>
        </p:txBody>
      </p:sp>
      <p:sp>
        <p:nvSpPr>
          <p:cNvPr id="22" name="TextBox 21"/>
          <p:cNvSpPr txBox="1"/>
          <p:nvPr/>
        </p:nvSpPr>
        <p:spPr>
          <a:xfrm>
            <a:off x="685800" y="5532120"/>
            <a:ext cx="10789920" cy="457200"/>
          </a:xfrm>
          <a:prstGeom prst="rect">
            <a:avLst/>
          </a:prstGeom>
          <a:noFill/>
        </p:spPr>
        <p:txBody>
          <a:bodyPr wrap="square" anchor="t" lIns="0" rIns="0" tIns="0" bIns="0">
            <a:spAutoFit/>
          </a:bodyPr>
          <a:lstStyle/>
          <a:p>
            <a:pPr algn="l">
              <a:lnSpc>
                <a:spcPct val="110000"/>
              </a:lnSpc>
              <a:spcAft>
                <a:spcPts val="600"/>
              </a:spcAft>
            </a:pPr>
            <a:r>
              <a:rPr sz="1400" b="0">
                <a:solidFill>
                  <a:srgbClr val="5C5C5C"/>
                </a:solidFill>
                <a:latin typeface="Arial"/>
              </a:rPr>
              <a:t>Fixed seeds, synthetic data labelled as such. None of these components can sign, pay or move a cap.</a:t>
            </a:r>
          </a:p>
        </p:txBody>
      </p:sp>
      <p:sp>
        <p:nvSpPr>
          <p:cNvPr id="23" name="TextBox 22"/>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24" name="TextBox 23"/>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12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155448"/>
            <a:ext cx="9052560" cy="274320"/>
          </a:xfrm>
          <a:prstGeom prst="rect">
            <a:avLst/>
          </a:prstGeom>
          <a:noFill/>
        </p:spPr>
        <p:txBody>
          <a:bodyPr wrap="square" anchor="t" lIns="0" rIns="0" tIns="0" bIns="0">
            <a:spAutoFit/>
          </a:bodyPr>
          <a:lstStyle/>
          <a:p>
            <a:pPr algn="l">
              <a:lnSpc>
                <a:spcPct val="110000"/>
              </a:lnSpc>
              <a:spcAft>
                <a:spcPts val="600"/>
              </a:spcAft>
            </a:pPr>
            <a:r>
              <a:rPr sz="1200" b="1">
                <a:solidFill>
                  <a:srgbClr val="FF6B8B"/>
                </a:solidFill>
                <a:latin typeface="Arial"/>
              </a:rPr>
              <a:t>HONEST ABOUT WHAT IS REAL</a:t>
            </a:r>
          </a:p>
        </p:txBody>
      </p:sp>
      <p:sp>
        <p:nvSpPr>
          <p:cNvPr id="3" name="TextBox 2"/>
          <p:cNvSpPr txBox="1"/>
          <p:nvPr/>
        </p:nvSpPr>
        <p:spPr>
          <a:xfrm>
            <a:off x="438912" y="411480"/>
            <a:ext cx="9144000" cy="548640"/>
          </a:xfrm>
          <a:prstGeom prst="rect">
            <a:avLst/>
          </a:prstGeom>
          <a:noFill/>
        </p:spPr>
        <p:txBody>
          <a:bodyPr wrap="square" anchor="t" lIns="0" rIns="0" tIns="0" bIns="0">
            <a:spAutoFit/>
          </a:bodyPr>
          <a:lstStyle/>
          <a:p>
            <a:pPr algn="l">
              <a:lnSpc>
                <a:spcPct val="110000"/>
              </a:lnSpc>
              <a:spcAft>
                <a:spcPts val="600"/>
              </a:spcAft>
            </a:pPr>
            <a:r>
              <a:rPr sz="2400" b="1">
                <a:solidFill>
                  <a:srgbClr val="FFFFFF"/>
                </a:solidFill>
                <a:latin typeface="Arial"/>
              </a:rPr>
              <a:t>What runs today, and what comes next</a:t>
            </a:r>
          </a:p>
        </p:txBody>
      </p:sp>
      <p:sp>
        <p:nvSpPr>
          <p:cNvPr id="4" name="Rectangle 3"/>
          <p:cNvSpPr/>
          <p:nvPr/>
        </p:nvSpPr>
        <p:spPr>
          <a:xfrm>
            <a:off x="685800" y="1463040"/>
            <a:ext cx="5257800" cy="347472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463040"/>
            <a:ext cx="525780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7091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Real today</a:t>
            </a:r>
          </a:p>
        </p:txBody>
      </p:sp>
      <p:sp>
        <p:nvSpPr>
          <p:cNvPr id="7" name="TextBox 6"/>
          <p:cNvSpPr txBox="1"/>
          <p:nvPr/>
        </p:nvSpPr>
        <p:spPr>
          <a:xfrm>
            <a:off x="960120" y="2331720"/>
            <a:ext cx="4709160" cy="2468879"/>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Contracts deployed and verified on Base Sepolia; full jobs with value on Base and FISCO.</a:t>
            </a:r>
          </a:p>
          <a:p>
            <a:pPr algn="l">
              <a:lnSpc>
                <a:spcPct val="110000"/>
              </a:lnSpc>
              <a:spcAft>
                <a:spcPts val="600"/>
              </a:spcAft>
            </a:pPr>
            <a:r>
              <a:rPr sz="1500" b="0">
                <a:solidFill>
                  <a:srgbClr val="5C5C5C"/>
                </a:solidFill>
                <a:latin typeface="Arial"/>
              </a:rPr>
              <a:t>Real FATE training, free models live in the public app.</a:t>
            </a:r>
          </a:p>
          <a:p>
            <a:pPr algn="l">
              <a:lnSpc>
                <a:spcPct val="110000"/>
              </a:lnSpc>
              <a:spcAft>
                <a:spcPts val="600"/>
              </a:spcAft>
            </a:pPr>
            <a:r>
              <a:rPr sz="1500" b="0">
                <a:solidFill>
                  <a:srgbClr val="5C5C5C"/>
                </a:solidFill>
                <a:latin typeface="Arial"/>
              </a:rPr>
              <a:t>On FISCO the engine settles every payment on the contracts, with retries and refunds.</a:t>
            </a:r>
          </a:p>
          <a:p>
            <a:pPr algn="l">
              <a:lnSpc>
                <a:spcPct val="110000"/>
              </a:lnSpc>
              <a:spcAft>
                <a:spcPts val="600"/>
              </a:spcAft>
            </a:pPr>
            <a:r>
              <a:rPr sz="1500" b="0">
                <a:solidFill>
                  <a:srgbClr val="5C5C5C"/>
                </a:solidFill>
                <a:latin typeface="Arial"/>
              </a:rPr>
              <a:t>Still limited: Base runs anchor payments to spare a small wallet; FISCO is one node of ours; spraying telemetry is synthetic, real flights only used to test the oracle.</a:t>
            </a:r>
          </a:p>
        </p:txBody>
      </p:sp>
      <p:sp>
        <p:nvSpPr>
          <p:cNvPr id="8" name="Rectangle 7"/>
          <p:cNvSpPr/>
          <p:nvPr/>
        </p:nvSpPr>
        <p:spPr>
          <a:xfrm>
            <a:off x="6217920" y="1463040"/>
            <a:ext cx="5257800" cy="3474720"/>
          </a:xfrm>
          <a:prstGeom prst="rect">
            <a:avLst/>
          </a:prstGeom>
          <a:solidFill>
            <a:srgbClr val="FFFFFF"/>
          </a:solidFill>
          <a:ln w="9525">
            <a:solidFill>
              <a:srgbClr val="DF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463040"/>
            <a:ext cx="5257800" cy="64008"/>
          </a:xfrm>
          <a:prstGeom prst="rect">
            <a:avLst/>
          </a:prstGeom>
          <a:solidFill>
            <a:srgbClr val="677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37360"/>
            <a:ext cx="4709160" cy="548640"/>
          </a:xfrm>
          <a:prstGeom prst="rect">
            <a:avLst/>
          </a:prstGeom>
          <a:noFill/>
        </p:spPr>
        <p:txBody>
          <a:bodyPr wrap="square" anchor="t" lIns="0" rIns="0" tIns="0" bIns="0">
            <a:spAutoFit/>
          </a:bodyPr>
          <a:lstStyle/>
          <a:p>
            <a:pPr algn="l">
              <a:lnSpc>
                <a:spcPct val="110000"/>
              </a:lnSpc>
              <a:spcAft>
                <a:spcPts val="600"/>
              </a:spcAft>
            </a:pPr>
            <a:r>
              <a:rPr sz="2200" b="1">
                <a:solidFill>
                  <a:srgbClr val="1A1A1A"/>
                </a:solidFill>
                <a:latin typeface="Arial"/>
              </a:rPr>
              <a:t>Next</a:t>
            </a:r>
          </a:p>
        </p:txBody>
      </p:sp>
      <p:sp>
        <p:nvSpPr>
          <p:cNvPr id="11" name="TextBox 10"/>
          <p:cNvSpPr txBox="1"/>
          <p:nvPr/>
        </p:nvSpPr>
        <p:spPr>
          <a:xfrm>
            <a:off x="6492240" y="2331720"/>
            <a:ext cx="4709160" cy="2468879"/>
          </a:xfrm>
          <a:prstGeom prst="rect">
            <a:avLst/>
          </a:prstGeom>
          <a:noFill/>
        </p:spPr>
        <p:txBody>
          <a:bodyPr wrap="square" anchor="t" lIns="0" rIns="0" tIns="0" bIns="0">
            <a:spAutoFit/>
          </a:bodyPr>
          <a:lstStyle/>
          <a:p>
            <a:pPr algn="l">
              <a:lnSpc>
                <a:spcPct val="110000"/>
              </a:lnSpc>
              <a:spcAft>
                <a:spcPts val="600"/>
              </a:spcAft>
            </a:pPr>
            <a:r>
              <a:rPr sz="1500" b="0">
                <a:solidFill>
                  <a:srgbClr val="5C5C5C"/>
                </a:solidFill>
                <a:latin typeface="Arial"/>
              </a:rPr>
              <a:t>One licensed lessor pilot with ten drones.</a:t>
            </a:r>
          </a:p>
          <a:p>
            <a:pPr algn="l">
              <a:lnSpc>
                <a:spcPct val="110000"/>
              </a:lnSpc>
              <a:spcAft>
                <a:spcPts val="600"/>
              </a:spcAft>
            </a:pPr>
            <a:r>
              <a:rPr sz="1500" b="0">
                <a:solidFill>
                  <a:srgbClr val="5C5C5C"/>
                </a:solidFill>
                <a:latin typeface="Arial"/>
              </a:rPr>
              <a:t>Real flight logs through the same oracle.</a:t>
            </a:r>
          </a:p>
          <a:p>
            <a:pPr algn="l">
              <a:lnSpc>
                <a:spcPct val="110000"/>
              </a:lnSpc>
              <a:spcAft>
                <a:spcPts val="600"/>
              </a:spcAft>
            </a:pPr>
            <a:r>
              <a:rPr sz="1500" b="0">
                <a:solidFill>
                  <a:srgbClr val="5C5C5C"/>
                </a:solidFill>
                <a:latin typeface="Arial"/>
              </a:rPr>
              <a:t>A FISCO BCOS node run by the lessor.</a:t>
            </a:r>
          </a:p>
          <a:p>
            <a:pPr algn="l">
              <a:lnSpc>
                <a:spcPct val="110000"/>
              </a:lnSpc>
              <a:spcAft>
                <a:spcPts val="600"/>
              </a:spcAft>
            </a:pPr>
            <a:r>
              <a:rPr sz="1500" b="0">
                <a:solidFill>
                  <a:srgbClr val="5C5C5C"/>
                </a:solidFill>
                <a:latin typeface="Arial"/>
              </a:rPr>
              <a:t>A secure element on each drone.</a:t>
            </a:r>
          </a:p>
          <a:p>
            <a:pPr algn="l">
              <a:lnSpc>
                <a:spcPct val="110000"/>
              </a:lnSpc>
              <a:spcAft>
                <a:spcPts val="600"/>
              </a:spcAft>
            </a:pPr>
            <a:r>
              <a:rPr sz="1500" b="0">
                <a:solidFill>
                  <a:srgbClr val="5C5C5C"/>
                </a:solidFill>
                <a:latin typeface="Arial"/>
              </a:rPr>
              <a:t>Then any machine with verifiable paid work: delivery drones, robot arms, robotaxis.</a:t>
            </a:r>
          </a:p>
        </p:txBody>
      </p:sp>
      <p:sp>
        <p:nvSpPr>
          <p:cNvPr id="12" name="Rectangle 11"/>
          <p:cNvSpPr/>
          <p:nvPr/>
        </p:nvSpPr>
        <p:spPr>
          <a:xfrm>
            <a:off x="0" y="5120640"/>
            <a:ext cx="12191695" cy="7315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257800"/>
            <a:ext cx="5669280" cy="457200"/>
          </a:xfrm>
          <a:prstGeom prst="rect">
            <a:avLst/>
          </a:prstGeom>
          <a:noFill/>
        </p:spPr>
        <p:txBody>
          <a:bodyPr wrap="square" anchor="t" lIns="0" rIns="0" tIns="0" bIns="0">
            <a:spAutoFit/>
          </a:bodyPr>
          <a:lstStyle/>
          <a:p>
            <a:pPr algn="l">
              <a:lnSpc>
                <a:spcPct val="110000"/>
              </a:lnSpc>
              <a:spcAft>
                <a:spcPts val="600"/>
              </a:spcAft>
            </a:pPr>
            <a:r>
              <a:rPr sz="1900" b="1">
                <a:solidFill>
                  <a:srgbClr val="FFFFFF"/>
                </a:solidFill>
                <a:latin typeface="Arial"/>
              </a:rPr>
              <a:t>zishi-fintechathon.vercel.app</a:t>
            </a:r>
          </a:p>
        </p:txBody>
      </p:sp>
      <p:sp>
        <p:nvSpPr>
          <p:cNvPr id="14" name="TextBox 13"/>
          <p:cNvSpPr txBox="1"/>
          <p:nvPr/>
        </p:nvSpPr>
        <p:spPr>
          <a:xfrm>
            <a:off x="5806440" y="5303520"/>
            <a:ext cx="5715000" cy="457200"/>
          </a:xfrm>
          <a:prstGeom prst="rect">
            <a:avLst/>
          </a:prstGeom>
          <a:noFill/>
        </p:spPr>
        <p:txBody>
          <a:bodyPr wrap="square" anchor="t" lIns="0" rIns="0" tIns="0" bIns="0">
            <a:spAutoFit/>
          </a:bodyPr>
          <a:lstStyle/>
          <a:p>
            <a:pPr algn="r">
              <a:lnSpc>
                <a:spcPct val="110000"/>
              </a:lnSpc>
              <a:spcAft>
                <a:spcPts val="600"/>
              </a:spcAft>
            </a:pPr>
            <a:r>
              <a:rPr sz="1500" b="0">
                <a:solidFill>
                  <a:srgbClr val="FFFFFF"/>
                </a:solidFill>
                <a:latin typeface="Arial"/>
              </a:rPr>
              <a:t>github.com/KarinaKKarinaK/shenzhen-fintechathon</a:t>
            </a:r>
          </a:p>
        </p:txBody>
      </p:sp>
      <p:sp>
        <p:nvSpPr>
          <p:cNvPr id="15" name="TextBox 14"/>
          <p:cNvSpPr txBox="1"/>
          <p:nvPr/>
        </p:nvSpPr>
        <p:spPr>
          <a:xfrm>
            <a:off x="685800" y="6446520"/>
            <a:ext cx="3657600" cy="274320"/>
          </a:xfrm>
          <a:prstGeom prst="rect">
            <a:avLst/>
          </a:prstGeom>
          <a:noFill/>
        </p:spPr>
        <p:txBody>
          <a:bodyPr wrap="square" anchor="t" lIns="0" rIns="0" tIns="0" bIns="0">
            <a:spAutoFit/>
          </a:bodyPr>
          <a:lstStyle/>
          <a:p>
            <a:pPr algn="l">
              <a:lnSpc>
                <a:spcPct val="110000"/>
              </a:lnSpc>
              <a:spcAft>
                <a:spcPts val="600"/>
              </a:spcAft>
            </a:pPr>
            <a:r>
              <a:rPr sz="1100" b="0">
                <a:solidFill>
                  <a:srgbClr val="5C5C5C"/>
                </a:solidFill>
                <a:latin typeface="Arial"/>
              </a:rPr>
              <a:t>Zishi 自食其力</a:t>
            </a:r>
          </a:p>
        </p:txBody>
      </p:sp>
      <p:sp>
        <p:nvSpPr>
          <p:cNvPr id="16" name="TextBox 15"/>
          <p:cNvSpPr txBox="1"/>
          <p:nvPr/>
        </p:nvSpPr>
        <p:spPr>
          <a:xfrm>
            <a:off x="9677095" y="6446520"/>
            <a:ext cx="1828800" cy="274320"/>
          </a:xfrm>
          <a:prstGeom prst="rect">
            <a:avLst/>
          </a:prstGeom>
          <a:noFill/>
        </p:spPr>
        <p:txBody>
          <a:bodyPr wrap="square" anchor="t" lIns="0" rIns="0" tIns="0" bIns="0">
            <a:spAutoFit/>
          </a:bodyPr>
          <a:lstStyle/>
          <a:p>
            <a:pPr algn="r">
              <a:lnSpc>
                <a:spcPct val="110000"/>
              </a:lnSpc>
              <a:spcAft>
                <a:spcPts val="600"/>
              </a:spcAft>
            </a:pPr>
            <a:r>
              <a:rPr sz="1100" b="0">
                <a:solidFill>
                  <a:srgbClr val="5C5C5C"/>
                </a:solidFill>
                <a:latin typeface="Arial"/>
              </a:rPr>
              <a:t>13 / 14</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28</Words>
  <Application>Microsoft Office PowerPoint</Application>
  <PresentationFormat>宽屏</PresentationFormat>
  <Paragraphs>18</Paragraphs>
  <Slides>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HarmonyOS Sans SC Bold</vt:lpstr>
      <vt:lpstr>HarmonyOS Sans SC Medium</vt:lpstr>
      <vt:lpstr>宋体</vt:lpstr>
      <vt:lpstr>Arial</vt:lpstr>
      <vt:lpstr>Calibri</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Jiaguan Dong</cp:lastModifiedBy>
  <cp:revision>34</cp:revision>
  <dcterms:created xsi:type="dcterms:W3CDTF">2023-10-18T07:50:09Z</dcterms:created>
  <dcterms:modified xsi:type="dcterms:W3CDTF">2025-09-18T13:33:42Z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B24CF714F5C0EBA4C7872F65158432DF_41</vt:lpwstr>
  </property>
</Properties>
</file>